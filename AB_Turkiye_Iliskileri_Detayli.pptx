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ve Türkiye İlişkileri · Detaylı · SBK 3035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3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97280"/>
            <a:ext cx="3840480" cy="3840480"/>
          </a:xfrm>
          <a:prstGeom prst="ellipse">
            <a:avLst/>
          </a:prstGeom>
          <a:solidFill>
            <a:srgbClr val="22356B"/>
          </a:solidFill>
          <a:ln/>
        </p:spPr>
      </p:sp>
      <p:sp>
        <p:nvSpPr>
          <p:cNvPr id="3" name="Shape 1"/>
          <p:cNvSpPr/>
          <p:nvPr/>
        </p:nvSpPr>
        <p:spPr>
          <a:xfrm>
            <a:off x="9637776" y="72237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4" name="Shape 2"/>
          <p:cNvSpPr/>
          <p:nvPr/>
        </p:nvSpPr>
        <p:spPr>
          <a:xfrm>
            <a:off x="9496894" y="124815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5" name="Shape 3"/>
          <p:cNvSpPr/>
          <p:nvPr/>
        </p:nvSpPr>
        <p:spPr>
          <a:xfrm>
            <a:off x="9111996" y="1633054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6" name="Shape 4"/>
          <p:cNvSpPr/>
          <p:nvPr/>
        </p:nvSpPr>
        <p:spPr>
          <a:xfrm>
            <a:off x="8586216" y="177393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7" name="Shape 5"/>
          <p:cNvSpPr/>
          <p:nvPr/>
        </p:nvSpPr>
        <p:spPr>
          <a:xfrm>
            <a:off x="8060436" y="1633054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8" name="Shape 6"/>
          <p:cNvSpPr/>
          <p:nvPr/>
        </p:nvSpPr>
        <p:spPr>
          <a:xfrm>
            <a:off x="7675538" y="124815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9" name="Shape 7"/>
          <p:cNvSpPr/>
          <p:nvPr/>
        </p:nvSpPr>
        <p:spPr>
          <a:xfrm>
            <a:off x="7534656" y="72237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0" name="Shape 8"/>
          <p:cNvSpPr/>
          <p:nvPr/>
        </p:nvSpPr>
        <p:spPr>
          <a:xfrm>
            <a:off x="7675538" y="19659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1" name="Shape 9"/>
          <p:cNvSpPr/>
          <p:nvPr/>
        </p:nvSpPr>
        <p:spPr>
          <a:xfrm>
            <a:off x="8060436" y="-188302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2" name="Shape 10"/>
          <p:cNvSpPr/>
          <p:nvPr/>
        </p:nvSpPr>
        <p:spPr>
          <a:xfrm>
            <a:off x="8586216" y="-329184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3" name="Shape 11"/>
          <p:cNvSpPr/>
          <p:nvPr/>
        </p:nvSpPr>
        <p:spPr>
          <a:xfrm>
            <a:off x="9111996" y="-188302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4" name="Shape 12"/>
          <p:cNvSpPr/>
          <p:nvPr/>
        </p:nvSpPr>
        <p:spPr>
          <a:xfrm>
            <a:off x="9496894" y="19659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1234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SBK 3035 · DETAYLI İNCELEME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16002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Avrupa ve Türkiye İlişkileri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0175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Batılılaşma çabalarından AB müzakerelerine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SBK 3035 · AB ve Türkiye İlişkileri · ÇÖMÜ Siyasal Bilgiler Fakültesi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Osmanlı–Avrupa ilişkilerinde dönüm noktaları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2148840"/>
            <a:ext cx="8046720" cy="0"/>
          </a:xfrm>
          <a:prstGeom prst="line">
            <a:avLst/>
          </a:prstGeom>
          <a:noFill/>
          <a:ln w="25400">
            <a:solidFill>
              <a:srgbClr val="1423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032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1569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Fransa'ya ilk resmi kapitülasyonlar (1535–36 taslağının ardından)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4144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3548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1606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94462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Zitvatorok: Habsburg ile eşit statüde barış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8256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660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1699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28574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Karlofça: ilk büyük toprak kaybı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368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1774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2686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Kaynarca: Rusya'ya ayrıcalıklar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6480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5884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1838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96798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Balta Limanı: İngiltere ile serbest ticaret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0592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9996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1856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30910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Paris: Osmanlı "Avrupa uyumu"na kabul edildi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Batılılaşma girişimleri: genel bakış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21280" cy="1554480"/>
          </a:xfrm>
          <a:prstGeom prst="roundRect">
            <a:avLst>
              <a:gd name="adj" fmla="val 5882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207008"/>
            <a:ext cx="184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Nizam-ı Cedid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19072"/>
            <a:ext cx="225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Selim'in Avrupa tarzı ordu ve yeni hazine girişimi.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61360" y="1097280"/>
            <a:ext cx="2621280" cy="1554480"/>
          </a:xfrm>
          <a:prstGeom prst="roundRect">
            <a:avLst>
              <a:gd name="adj" fmla="val 5882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595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595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1826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919728" y="1207008"/>
            <a:ext cx="184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Yeniçeri Ocağı'nın kaldırılması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44240" y="1719072"/>
            <a:ext cx="225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Mahmud döneminde merkezileşme ve modern ordu.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65520" y="1097280"/>
            <a:ext cx="2621280" cy="1554480"/>
          </a:xfrm>
          <a:prstGeom prst="roundRect">
            <a:avLst>
              <a:gd name="adj" fmla="val 5882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011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011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1839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723888" y="1207008"/>
            <a:ext cx="184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Tanzimat Fermanı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48400" y="1719072"/>
            <a:ext cx="225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Can, mal ve namus güvenliği; kanun önünde güvence.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2621280" cy="1554480"/>
          </a:xfrm>
          <a:prstGeom prst="roundRect">
            <a:avLst>
              <a:gd name="adj" fmla="val 5882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298094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" y="2944368"/>
            <a:ext cx="184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Islahat Fermanı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56432"/>
            <a:ext cx="225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Gayrimüslimlere eşitlik; Kırım Savaşı sonrası Avrupa baskısı.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61360" y="2834640"/>
            <a:ext cx="2621280" cy="1554480"/>
          </a:xfrm>
          <a:prstGeom prst="roundRect">
            <a:avLst>
              <a:gd name="adj" fmla="val 5882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25952" y="298094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25952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1876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919728" y="2944368"/>
            <a:ext cx="184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Kanun-i Esasi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44240" y="3456432"/>
            <a:ext cx="225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Osmanlı anayasası ve meclis (I. Meşrutiyet).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65520" y="2834640"/>
            <a:ext cx="2621280" cy="1554480"/>
          </a:xfrm>
          <a:prstGeom prst="roundRect">
            <a:avLst>
              <a:gd name="adj" fmla="val 5882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30112" y="298094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30112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1923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723888" y="2944368"/>
            <a:ext cx="184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Cumhuriyet devrimleri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48400" y="3456432"/>
            <a:ext cx="225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Laik hukuk, eğitim birliği, harf devrimi.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Nizam-ı Cedid (1789–1807)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257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Padişah: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Selim; "Nizam-ı Cedid" (Yeni Düzen) adı verilen reform programı.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Ordu: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1793'ten itibaren Yeniçeri Ocağı'nın yanında Avrupa usulü eğitilen yeni bir ordu kuruldu.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Reformları finanse etmek için İrad-ı Cedid hazinesi oluşturuldu.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Diplomasi: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başkentlerinde ilk daimi elçilikler açıldı (Londra, 1793).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Mühendishane-i Berr-i Hümayun (1795) gibi askeri-teknik okullar.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1807 Kabakçı Mustafa İsyanı ile III. Selim tahttan indirildi; reformlar geçici olarak durdu.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89320" y="114300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EDF1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126480" y="13716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1793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2377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Nizam-ı Cedid ordusu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3017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Osmanlı'da kurumsal Batılılaşmanın ilk sistemli denemesi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II. Mahmud: merkezileşme ve modernleşme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257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1826: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Yeniçeri Ocağı kaldırıldı (Vaka-i Hayriye); yerine Asakir-i Mansure-i Muhammediye kuruldu.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Bürokrasi: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Divan yerine nezaretler (bakanlıklar) oluşturulmaya başlandı.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Basın: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resmi gazete Takvim-i Vekayi (1831).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Mekteb-i Tıbbiye (1827) ve Mekteb-i Harbiye (1834).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Önemi: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Tanzimat'ın kurumsal zemini bu dönemde hazırlandı.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89320" y="114300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EDF1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126480" y="13716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1826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2377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Vaka-i Hayriye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3017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Yeniçeri Ocağı'nın kaldırılması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Hünkâr İskelesi Antlaşması (8 Temmuz 1833)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257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Bağlam: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Mısır Valisi Kavalalı Mehmed Ali Paşa'nın isyanı; Osmanlı ordusu 21 Aralık 1832'de Konya'da yenildi.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 yardımı: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Batılı devletlerden destek bulamayan II. Mahmud Rusya'ya başvurdu; Rus donanması ve askerleri 1833'te Boğaz'a geldi.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Kütahya (Mayıs 1833):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Mehmed Ali ile uzlaşma sağlandı.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Antlaşma: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Osmanlı ile Rusya arasında 8 yıllık savunma ittifakı.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madde: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Rusya askeri yardım istemeyecek; karşılığında Osmanlı, Rusya ile savaşan devletlerin savaş gemilerine Çanakkale Boğazı'nı kapatacaktı.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89320" y="114300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EDF1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0" y="1325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Sonuçları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783080"/>
            <a:ext cx="2240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İngiltere ve Fransa'nın sert tepkisi; Boğazlar meselesinin uluslararası hale gelmesi.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1841 Londra Boğazlar Sözleşmesi: barış zamanında Boğazlar tüm yabancı savaş gemilerine kapatıldı ve Rusya'nın üstünlüğü sona erdi.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Tanzimat Fermanı (Gülhane Hatt-ı Hümayunu, 1839)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257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İlan: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Kasım 1839; Sultan Abdülmecid döneminde, Mustafa Reşid Paşa tarafından Gülhane'de okundu.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Bağlam: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Mısır krizi sürerken Avrupa'nın desteğini kazanma çabası; bir yıl önce Balta Limanı imzalanmıştı.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Güvenceler: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tebaanın can, mal ve namus güvenliği; mahkemesiz ceza verilmemesi; müsaderenin kaldırılması.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Vergi ve askerlik: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Verginin gelire göre adil alınması; askerlik süresinin 4–5 yılla sınırlanması.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Önemi: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Padişah, kendi yetkisini kanunlarla sınırlamayı ilk kez taahhüt etti; hukuk devletine doğru ilk adım.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89320" y="114300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EDF1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126480" y="13716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1839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2377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Gülhane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3017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Tanzimat dönemi 1876'ya kadar sürdü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Islahat Fermanı (18 Şubat 1856)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Bağlam: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Kırım Savaşı'nın (1853–1856) sonunda, Paris Barış Konferansı öncesi.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Hazırlık: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İngiltere, Fransa ve Avusturya temsilcilerinin katkısıyla hazırlandı.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Gayrimüslimlere kamu görevi, okullara giriş ve dini serbestlik; karma mahkemeler; yabancılara mülk edinme hakkı.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Vergi: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Cizye kaldırıldı; askerlik yerine bedel ödeme usulü getirildi.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Antlaşması (30 Mart 1856):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Osmanlı, Avrupa kamu hukukundan ve "Avrupa uyumu"ndan yararlanma hakkı kazandı; Ferman antlaşmada anıldı, ancak Avrupa'ya iç işlere müdahale hakkı vermediği belirtildi.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Tanzimat döneminin reformları (1839–1876)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668780"/>
          </a:xfrm>
          <a:prstGeom prst="roundRect">
            <a:avLst>
              <a:gd name="adj" fmla="val 5479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2070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Hukuk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19072"/>
            <a:ext cx="36576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Ceza Kanunnamesi (1840), Ticaret Kanunnamesi (1850), nizamiye mahkemeleri ve Mecelle (1868–1876).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668780"/>
          </a:xfrm>
          <a:prstGeom prst="roundRect">
            <a:avLst>
              <a:gd name="adj" fmla="val 5479"/>
            </a:avLst>
          </a:prstGeom>
          <a:solidFill>
            <a:srgbClr val="F7F9FC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2803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2803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21808" y="12070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İdare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19072"/>
            <a:ext cx="36576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Şehremaneti (1855), Vilayet Nizamnamesi (1864), Şura-yı Devlet (1868).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48940"/>
            <a:ext cx="4023360" cy="1668780"/>
          </a:xfrm>
          <a:prstGeom prst="roundRect">
            <a:avLst>
              <a:gd name="adj" fmla="val 5479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309524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" y="3095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30586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570732"/>
            <a:ext cx="36576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Mekteb-i Sultani / Galatasaray (1868), Maarif-i Umumiye Nizamnamesi (1869).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948940"/>
            <a:ext cx="4023360" cy="1668780"/>
          </a:xfrm>
          <a:prstGeom prst="roundRect">
            <a:avLst>
              <a:gd name="adj" fmla="val 5479"/>
            </a:avLst>
          </a:prstGeom>
          <a:solidFill>
            <a:srgbClr val="F7F9FC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28032" y="309524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28032" y="3095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21808" y="30586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Altyapı ve basın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570732"/>
            <a:ext cx="36576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 Nezareti (1840), telgraf (1855), Tercüman-ı Ahval (1860).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Meşrutiyet ve anayasal deneyim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257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Genç Osmanlılar: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Namık Kemal, Ziya Paşa, Şinasi; meşruti yönetim ve "hürriyet" fikirleri.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Kanun-i Esasi: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Aralık 1876'da ilan edildi (Mithat Paşa); ilk Osmanlı anayasası.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Meclis-i Umumi: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 ve Mebusan meclisleri 1877'de toplandı.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1878: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Abdülhamid, Osmanlı-Rus Savaşı sırasında meclisi tatil etti.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1908: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Meşrutiyet ile anayasa yeniden yürürlüğe kondu.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89320" y="114300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EDF1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126480" y="13716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1876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2377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Kanun-i Esasi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3017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Osmanlı anayasası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Cumhuriyet devrimleri ve Batılılaşma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257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Lozan (24 Temmuz 1923):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Kapitülasyonlar kaldırıldı; tam bağımsızlık uluslararası tanındı.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1924: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Halifelik kaldırıldı; Tevhid-i Tedrisat Kanunu ile eğitim birliği.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1926: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İsviçre Medeni Kanunu esas alınarak Türk Medeni Kanunu kabul edildi.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1928: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alfabesine geçiş.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1930 ve 1934: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Kadınlara önce yerel, sonra milletvekili seçme ve seçilme hakkı.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1937: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Laiklik ilkesi anayasaya girdi.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89320" y="114300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EDF1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126480" y="13716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1923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2377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Cumhuriyet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3017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Hukuk, eğitim ve toplumsal yaşamda kapsamlı dönüşüm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Cumhuriyet Türkiyesi ve Batı kurumları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2148840"/>
            <a:ext cx="8046720" cy="0"/>
          </a:xfrm>
          <a:prstGeom prst="line">
            <a:avLst/>
          </a:prstGeom>
          <a:noFill/>
          <a:ln w="25400">
            <a:solidFill>
              <a:srgbClr val="1423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032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1923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Lozan Antlaşması (24 Temmuz)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4144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3548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1948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94462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OEEC'nin kurucu üyesi; Marshall yardımı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8256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660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1949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28574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Konseyi üyeliği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368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2686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 üyeliği (18 Şubat, Yunanistan ile birlikte)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6480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5884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96798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İnsan Hakları Sözleşmesi'nin onayı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0592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9996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1987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30910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AİHM'e bireysel başvuru hakkının tanınması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Ankara Anlaşması ve Katma Protokol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257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Başvuru: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Temmuz 1959'da AET'ye ortaklık başvurusu.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Anlaşması: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Eylül 1963'te imzalandı, 1 Aralık 1964'te yürürlüğe girdi.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aşama: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Hazırlık, geçiş ve son dönem; hedef gümrük birliği.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Üyelik perspektifi: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28, koşullar oluştuğunda tam üyelik olasılığının incelenmesini öngörür.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 Protokol: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Kasım 1970'te imzalandı, 1 Ocak 1973'te yürürlüğe girdi; geçiş döneminin takvimini belirledi.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 sonrası: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Eylül darbesinin ardından AT ilişkileri fiilen dondurdu.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89320" y="114300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EDF1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126480" y="13716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1963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2377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ortaklık ilişkisi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3017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AET Antlaşması'nın ortaklık hükmüne dayanan bir anlaşma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Başvurudan adaylığa (1987–1999)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2148840"/>
            <a:ext cx="8046720" cy="0"/>
          </a:xfrm>
          <a:prstGeom prst="line">
            <a:avLst/>
          </a:prstGeom>
          <a:noFill/>
          <a:ln w="25400">
            <a:solidFill>
              <a:srgbClr val="1423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032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1987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Nisan: tam üyelik başvurusu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4144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3548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1989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94462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Aralık: Komisyon görüşü, müzakereler için erken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8256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660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1995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28574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Mart: Gümrük Birliği'ni kuran 1/95 sayılı Ortaklık Konseyi kararı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368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1996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2686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Ocak: Gümrük Birliği yürürlükte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6480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5884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1997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96798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Lüksemburg Zirvesi: aday listesine alınmadı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0592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9996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1999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30910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Helsinki Zirvesi: aday ülke statüsü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Reform dönemi ve müzakerelere giden yol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Anayasa değişiklikleri: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 ve 2004'te kapsamlı değişiklikler.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uyum paketleri: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2002–2004 arasında çok sayıda yasa paketi kabul edildi.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İdam cezası: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2002'de barış zamanında, 2004'te tüm durumlarda kaldırıldı.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Yargı: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Devlet Güvenlik Mahkemeleri 2004'te kaldırıldı.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Kültürel haklar: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dil ve lehçelerde yayın ve özel kurslara izin verildi.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Aralık 2004 AB zirvesi müzakere kararı aldı; müzakereler 3 Ekim 2005'te başladı.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Müzakere süreci ve tıkanma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257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Fasıllar: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fasıldan 16'sı açıldı; yalnızca 1'i (Bilim ve Araştırma, 2006) geçici olarak kapatıldı.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Kıbrıs düğümü: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Türkiye'nin Ek Protokol'ü Kıbrıs'a uygulamaması nedeniyle Konsey Aralık 2006'da 8 faslı askıya aldı.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blokajlar: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Bazı üye devletler başka fasılları da tek taraflı olarak blokladı.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sonrası: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Darbe girişimi ve olağanüstü hal dönemi, AB'nin hukukun üstünlüğü eleştirilerini artırdı.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Haziran 2018: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Konsey, müzakerelerin fiilen durduğunu ve yeni fasıl açılmasının öngörülmediğini belirtti.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89320" y="114300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EDF1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126480" y="13716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/ 35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2377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fasıl açıldı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3017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1 fasıl geçici olarak kapatıldı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Göç ve vize serbestisi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2560320"/>
          </a:xfrm>
          <a:prstGeom prst="roundRect">
            <a:avLst>
              <a:gd name="adj" fmla="val 3571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2070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AB–Türkiye Mutabakatı (18 Mart)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19072"/>
            <a:ext cx="365760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Yunan adalarına geçen düzensiz göçmenlerin geri kabulü; "bire bir" yeniden yerleştirme; Türkiye'deki mülteciler için toplam 6 milyar avroluk destek.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2560320"/>
          </a:xfrm>
          <a:prstGeom prst="roundRect">
            <a:avLst>
              <a:gd name="adj" fmla="val 3571"/>
            </a:avLst>
          </a:prstGeom>
          <a:solidFill>
            <a:srgbClr val="F7F9FC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2803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2803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21808" y="12070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Vize serbestisi diyaloğu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19072"/>
            <a:ext cx="365760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2013'te başlayan yol haritası 72 kriter içerir. 6 kriter (terörle mücadele mevzuatı ve kişisel verilerin korunması dahil) henüz karşılanmadı.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Gümrük Birliği: kapsam ve sorunlar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05072" cy="3474720"/>
          </a:xfrm>
          <a:prstGeom prst="roundRect">
            <a:avLst>
              <a:gd name="adj" fmla="val 2632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Kapsam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Ocak 1996'dan beri yürürlükte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Sanayi ürünleri ve işlenmiş tarım ürünleri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 AB'nin ortak gümrük tarifesini uygular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2025'te mal ticareti 217 milyar avroyu aştı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AB, Türkiye'nin ticaretinin %36'sından fazlasıyla en büyük ortağı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81728" y="1097280"/>
            <a:ext cx="4005072" cy="3474720"/>
          </a:xfrm>
          <a:prstGeom prst="roundRect">
            <a:avLst>
              <a:gd name="adj" fmla="val 2632"/>
            </a:avLst>
          </a:prstGeom>
          <a:solidFill>
            <a:srgbClr val="F7F9FC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10328" y="12070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Sorunlar ve güncelleme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10328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Tarım, hizmetler ve kamu alımları kapsam dışı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AB'nin üçüncü ülkelerle STA'ları Türkiye'yi otomatik bağlamaz (asimetri)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 taşımacılığında kotalar ve sürücü vizeleri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Komisyon 2016'da güncelleme için yetki istedi; Konsey vermedi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Bugün: üyelik mi, stratejik ortaklık mı?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Kasım 2023: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Komisyon ve Yüksek Temsilci ortak bildirimi; Avrupa Konseyi'nin 2021'de benimsediği "aşamalı, orantılı ve geri döndürülebilir" yaklaşım çerçevesinde öneriler.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kararı (17 Haziran 2026):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Katılım süreci "mevcut koşullarda yeniden başlayamaz"; hukukun üstünlüğünde somut ilerleme şart.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Önerilen yol: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Ortaklık Anlaşması'nın güncellenmesi ve demokratik ilkelere dayalı yeni bir çerçeve.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alanlar: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Ticaret, göç, enerji, güvenlik ve NATO ittifakı.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sorular: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Kıbrıs, Doğu Akdeniz, yargı bağımsızlığı ve temel haklar.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A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Tartışma soruları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Osmanlı'nın Batılılaşması ile bugünkü AB uyum süreci arasında bir süreklilik var mı?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Gümrük Birliği, tam üyelik olmadan Türkiye'ye ne kazandırdı, neyi eksik bıraktı?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"Stratejik ortaklık" tam üyeliğin alternatifi mi, yoksa ara aşaması mı?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Kaynaklar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T.C. Dışişleri Bakanlığı AB Başkanlığı, Türkiye-AB ilişkilerinin tarihçesi — ab.gov.tr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Anlaşması ve Katma Protokol metinleri; 1/95 sayılı Ortaklık Konseyi kararı — eur-lex.europa.eu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Konseyi, Türkiye politika sayfası ve AB-Türkiye ticaret infografiği (2025) — consilium.europa.eu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Komisyonu ve AP Türkiye raporları — enlargement.ec.europa.eu; oeil.europarl.europa.eu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Ortaylı, İ., İmparatorluğun En Uzun Yüzyılı (Tanzimat ve Osmanlı modernleşmesi)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Zürcher, E. J., Modernleşen Türkiye'nin Tarihi (İletişim Yayınları)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Lewis, B., Modern Türkiye'nin Doğuşu (Türk Tarih Kurumu)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3159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 sayılar (sandalye dağılımı, aday ülke durumu vb.) zamanla değişir; derste kullanmadan önce resmi kaynaktan teyit edilmesi önerilir. Bilgiler Ekim 2026 itibarıyla kontrol edilmiştir.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Avrupa ve Türkiye İlişkileri (Detaylı)</dc:title>
  <dc:subject>PptxGenJS Presentation</dc:subject>
  <dc:creator>SBK 3035 – ÇÖMÜ SBF</dc:creator>
  <cp:lastModifiedBy>SBK 3035 – ÇÖMÜ SBF</cp:lastModifiedBy>
  <cp:revision>1</cp:revision>
  <dcterms:created xsi:type="dcterms:W3CDTF">2026-10-10T10:01:46Z</dcterms:created>
  <dcterms:modified xsi:type="dcterms:W3CDTF">2026-10-10T10:01:46Z</dcterms:modified>
</cp:coreProperties>
</file>