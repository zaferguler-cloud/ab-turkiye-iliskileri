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Şubat 1992'de imzalandı, 1 Kasım 1993'te yürürlüğe girdi.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AB'nin Temel Antlaşmaları · SBK 3035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3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97280"/>
            <a:ext cx="3840480" cy="3840480"/>
          </a:xfrm>
          <a:prstGeom prst="ellipse">
            <a:avLst/>
          </a:prstGeom>
          <a:solidFill>
            <a:srgbClr val="22356B"/>
          </a:solidFill>
          <a:ln/>
        </p:spPr>
      </p:sp>
      <p:sp>
        <p:nvSpPr>
          <p:cNvPr id="3" name="Shape 1"/>
          <p:cNvSpPr/>
          <p:nvPr/>
        </p:nvSpPr>
        <p:spPr>
          <a:xfrm>
            <a:off x="9637776" y="72237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4" name="Shape 2"/>
          <p:cNvSpPr/>
          <p:nvPr/>
        </p:nvSpPr>
        <p:spPr>
          <a:xfrm>
            <a:off x="9496894" y="124815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5" name="Shape 3"/>
          <p:cNvSpPr/>
          <p:nvPr/>
        </p:nvSpPr>
        <p:spPr>
          <a:xfrm>
            <a:off x="9111996" y="1633054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6" name="Shape 4"/>
          <p:cNvSpPr/>
          <p:nvPr/>
        </p:nvSpPr>
        <p:spPr>
          <a:xfrm>
            <a:off x="8586216" y="177393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7" name="Shape 5"/>
          <p:cNvSpPr/>
          <p:nvPr/>
        </p:nvSpPr>
        <p:spPr>
          <a:xfrm>
            <a:off x="8060436" y="1633054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8" name="Shape 6"/>
          <p:cNvSpPr/>
          <p:nvPr/>
        </p:nvSpPr>
        <p:spPr>
          <a:xfrm>
            <a:off x="7675538" y="124815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9" name="Shape 7"/>
          <p:cNvSpPr/>
          <p:nvPr/>
        </p:nvSpPr>
        <p:spPr>
          <a:xfrm>
            <a:off x="7534656" y="72237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0" name="Shape 8"/>
          <p:cNvSpPr/>
          <p:nvPr/>
        </p:nvSpPr>
        <p:spPr>
          <a:xfrm>
            <a:off x="7675538" y="19659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1" name="Shape 9"/>
          <p:cNvSpPr/>
          <p:nvPr/>
        </p:nvSpPr>
        <p:spPr>
          <a:xfrm>
            <a:off x="8060436" y="-188302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2" name="Shape 10"/>
          <p:cNvSpPr/>
          <p:nvPr/>
        </p:nvSpPr>
        <p:spPr>
          <a:xfrm>
            <a:off x="8586216" y="-329184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3" name="Shape 11"/>
          <p:cNvSpPr/>
          <p:nvPr/>
        </p:nvSpPr>
        <p:spPr>
          <a:xfrm>
            <a:off x="9111996" y="-188302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4" name="Shape 12"/>
          <p:cNvSpPr/>
          <p:nvPr/>
        </p:nvSpPr>
        <p:spPr>
          <a:xfrm>
            <a:off x="9496894" y="19659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1234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BÜTÜNLEŞMESİNİN HUKUKİ TEMELİ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16002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AB'nin Temel Antlaşmaları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0175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Schuman Bildirisi'nden Lizbon'a (1950–2009)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SBK 3035 · AB ve Türkiye İlişkileri · ÇÖMÜ Siyasal Bilgiler Fakültesi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Başlangıç: Schuman Bildirisi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257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Mayıs 1950; Fransa Dışişleri Bakanı Robert Schuman açıkladı, fikir Jean Monnet'ye aittir.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Fransız ve Alman kömür ve çelik üretimini ortak bir "Yüksek Otorite" altında birleştirmek.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Mantık: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Savaş sanayiinin temelini ortaklaştırarak iki ülke arasındaki savaşı "maddi olarak imkânsız" hale getirmek.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Küçük, somut adımlarla ilerleyen işlevselci bütünleşme.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Mayıs, AB'de "Avrupa Günü" olarak kutlanır.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8932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ED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126480" y="13716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Mayıs 1950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2377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Günü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Bütünleşmenin sembolik başlangıcı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Antlaşmalar bir bakışta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188720"/>
                <a:gridCol w="38404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Antlaşma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İmza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Yürürlük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Temel yenilik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4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Paris (AKÇT)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18.04.1951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23.07.1952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Avrupa Kömür ve Çelik Topluluğu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Roma (AET, Euratom)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25.03.1957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01.01.1958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Ortak pazar ve atom enerjisi topluluğu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Füzyon (Birleşme)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08.04.1965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01.07.1967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Üç topluluk için tek Komisyon ve Konsey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Avrupa Tek Senedi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Şubat 1986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01.07.1987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İç pazar hedefi, nitelikli çoğunluğun genişlemesi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Maastricht (ABA)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07.02.1992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01.11.1993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Avrupa Birliği, üç sütun, parasal birlik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Amsterdam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02.10.1997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01.05.1999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Schengen AB'ye dahil, Yüksek Temsilci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26.02.2001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01.02.2003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Genişleme için kurumsal uyum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Lizbon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13.12.2007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01.12.2009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Bugünkü yapı: ABA ve ABİHA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 Anayasa Antlaşması imzalandı ancak yürürlüğe girmedi.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Paris Antlaşması: Avrupa Kömür ve Çelik Topluluğu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257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İmza ve süre: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Nisan 1951'de imzalandı, 23 Temmuz 1952'de yürürlüğe girdi; 50 yıl için yapıldı ve 23 Temmuz 2002'de sona erdi.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Kurucular: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Fransa, Batı Almanya, İtalya, Belçika, Hollanda, Lüksemburg.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Uluslarüstü yenilik: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Üye devletlerden bağımsız bir Yüksek Otorite (ilk başkanı Jean Monnet).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Kurumlar: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Otorite, Özel Bakanlar Konseyi, Ortak Meclis, Adalet Divanı; bugünkü kurumların öncüleri.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Başarısız girişim: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Savunma Topluluğu, Ağustos 1954'te Fransız Ulusal Meclisi'nde reddedildi.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8932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ED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126480" y="13716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2377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kurucu devlet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"Altılar"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Roma Antlaşmaları (1957)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257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antlaşma: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Ekonomik Topluluğu (AET) ve Avrupa Atom Enerjisi Topluluğu (Euratom).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Mart 1957'de imzalandı, 1 Ocak 1958'de yürürlüğe girdi.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pazar: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Malların, kişilerin, hizmetlerin ve sermayenin serbest dolaşımı ("dört özgürlük").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Gümrük birliği: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aralarında gümrük vergileri kaldırıldı, ortak gümrük tarifesi kuruldu (1 Temmuz 1968'de tamamlandı).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politikalar: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Tarım Politikası (1962), ortak ticaret politikası, rekabet kuralları.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8932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ED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0" y="1325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 bağlantısı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783080"/>
            <a:ext cx="2240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 1959'da AET'ye ortaklık için başvurdu. 1963 Ankara Anlaşması, AET Antlaşması'nın ortaklık hükmüne dayanır.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1960–1980'ler: kurumsal derinleşme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668780"/>
          </a:xfrm>
          <a:prstGeom prst="roundRect">
            <a:avLst>
              <a:gd name="adj" fmla="val 5479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2070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Füzyon Antlaşması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19072"/>
            <a:ext cx="36576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AKÇT, AET ve Euratom tek bir Komisyon ve tek bir Konsey'de birleşti (yürürlük 1967).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668780"/>
          </a:xfrm>
          <a:prstGeom prst="roundRect">
            <a:avLst>
              <a:gd name="adj" fmla="val 5479"/>
            </a:avLst>
          </a:prstGeom>
          <a:solidFill>
            <a:srgbClr val="F7F9FC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2803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2803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1966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321808" y="12070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Lüksemburg Uzlaşması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19072"/>
            <a:ext cx="36576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Fransa'nın "boş sandalye" krizini bitirdi; "hayati ulusal çıkar" söz konusuysa oydaşma aranması teamülü.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48940"/>
            <a:ext cx="4023360" cy="1668780"/>
          </a:xfrm>
          <a:prstGeom prst="roundRect">
            <a:avLst>
              <a:gd name="adj" fmla="val 5479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309524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" y="3095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1979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30586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doğrudan AP seçimi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570732"/>
            <a:ext cx="36576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Parlamentosu ilk kez halk tarafından doğrudan seçildi.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948940"/>
            <a:ext cx="4023360" cy="1668780"/>
          </a:xfrm>
          <a:prstGeom prst="roundRect">
            <a:avLst>
              <a:gd name="adj" fmla="val 5479"/>
            </a:avLst>
          </a:prstGeom>
          <a:solidFill>
            <a:srgbClr val="F7F9FC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28032" y="309524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28032" y="3095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1979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321808" y="30586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Para Sistemi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570732"/>
            <a:ext cx="36576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Döviz kurlarında istikrar için kuruldu; parasal birliğin öncüsü.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Avrupa Tek Senedi (1986)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Şubat 1986'da imzalandı, 1 Temmuz 1987'de yürürlüğe girdi; kurucu antlaşmaların ilk büyük revizyonu.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Aralık 1992'ye kadar iç pazarın tamamlanması (Delors Komisyonu'nun programı).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alma: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pazar mevzuatında Konsey'de nitelikli çoğunluk genişletildi.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Parlamento: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AP'ye "işbirliği usulü" ile yasamada daha fazla rol verildi.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alanlar: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Çevre, araştırma ve teknoloji; Avrupa Siyasi İşbirliği antlaşmaya girdi.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Maastricht (1992): Avrupa Birliği'nin kuruluşu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21280" cy="228600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207008"/>
            <a:ext cx="184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Toplulukları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19072"/>
            <a:ext cx="22555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pazar, ekonomik ve parasal birlik, ortak politikalar. Uluslarüstü yöntem.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61360" y="1097280"/>
            <a:ext cx="2621280" cy="228600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595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595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19728" y="1207008"/>
            <a:ext cx="184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Dış ve Güvenlik Politikası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44240" y="1719072"/>
            <a:ext cx="22555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Hükümetlerarası işbirliği; kararlar büyük ölçüde oybirliğiyle.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65520" y="1097280"/>
            <a:ext cx="2621280" cy="228600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011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011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23888" y="1207008"/>
            <a:ext cx="184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Adalet ve İçişleri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48400" y="1719072"/>
            <a:ext cx="22555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Göç, iltica, polis ve yargı işbirliği; hükümetlerarası.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Maastricht'in diğer yenilikleri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257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Parasal birlik: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Yakınsama kriterleri belirlendi; euro 1 Ocak 1999'da kayden, 1 Ocak 2002'de nakit olarak kullanılmaya başlandı.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vatandaşlığı: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Ulusal vatandaşlığa ek; serbest dolaşım ve yerel seçimlerde oy hakkı.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karar usulü: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AP, bazı alanlarda Konsey ile eşit yasa koyucu oldu.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İkincillik ilkesi: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Antlaşmaya genel ilke olarak girdi.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 krizi: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Danimarka 1992'de reddetti, istisnalar tanındıktan sonra 1993'te kabul etti.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8932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ED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126480" y="13716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1.11.1993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2377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yürürlük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İmza: 7 Şubat 1992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Amsterdam (1997) ve Nice (2001)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05072" cy="3474720"/>
          </a:xfrm>
          <a:prstGeom prst="roundRect">
            <a:avLst>
              <a:gd name="adj" fmla="val 2632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Amsterdam Antlaşması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İmza 2 Ekim 1997, yürürlük 1 Mayıs 1999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Schengen müktesebatı AB hukukuna dahil edildi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Vize, iltica ve göç konuları topluluk alanına taşındı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 politika için Yüksek Temsilci görevi (ilk: Javier Solana)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İstihdam bölümü ve ortak karar usulünün genişlemesi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81728" y="1097280"/>
            <a:ext cx="4005072" cy="3474720"/>
          </a:xfrm>
          <a:prstGeom prst="roundRect">
            <a:avLst>
              <a:gd name="adj" fmla="val 2632"/>
            </a:avLst>
          </a:prstGeom>
          <a:solidFill>
            <a:srgbClr val="F7F9FC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10328" y="1207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Nice Antlaşması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10328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İmza 26 Şubat 2001, yürürlük 1 Şubat 2003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Amaç: Doğu genişlemesine kurumsal hazırlık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Konsey'de oy ağırlıkları ve AP sandalyeleri yeniden dağıtıldı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devletler ikinci komiserden vazgeçti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İrlanda 2001'de reddetti, 2002'de kabul etti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Anayasa Antlaşması (2004): başarısız girişim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antlaşmaları tek bir "Avrupa için Anayasa" metninde toplamak.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İmza: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Ekim 2004, Roma.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Fransa: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Mayıs 2005 referandumunda yaklaşık %55 "hayır".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Hollanda: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Haziran 2005 referandumunda yaklaşık %62 "hayır".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 süreci durdu; AB bir "düşünme dönemi" ilan etti ve içeriğin büyük kısmı Lizbon'a aktarıldı.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Lizbon Antlaşması (2007): Anayasa'dan ne kaldı?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05072" cy="3474720"/>
          </a:xfrm>
          <a:prstGeom prst="roundRect">
            <a:avLst>
              <a:gd name="adj" fmla="val 2632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Korunan yenilikler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Konseyi'ne daimi başkan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Temsilci ve Dış Eylem Servisi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Çifte çoğunluk oylaması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Haklar Şartı'nın bağlayıcılığı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Sütun yapısının kaldırılması, AB'ye tüzel kişilik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81728" y="1097280"/>
            <a:ext cx="4005072" cy="3474720"/>
          </a:xfrm>
          <a:prstGeom prst="roundRect">
            <a:avLst>
              <a:gd name="adj" fmla="val 2632"/>
            </a:avLst>
          </a:prstGeom>
          <a:solidFill>
            <a:srgbClr val="F7F9FC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10328" y="1207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Çıkarılan unsurlar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10328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"Anayasa" adı; metin klasik bir değişiklik antlaşması oldu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Bayrak ve marş gibi sembollerin antlaşma metninden çıkarılması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"AB Dışişleri Bakanı" unvanı (yerine Yüksek Temsilci)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iki metin, ABA ve ABİHA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İmza 13.12.2007, yürürlük 01.12.2009 (İrlanda: 2008 "hayır", 2009 "evet")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Lizbon'dan sonra: yeni antlaşma yerine yeni araçlar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Avro krizi döneminde hükümetlerarası antlaşmalar: Avrupa İstikrar Mekanizması (2012) ve Mali İstikrar Antlaşması (2012)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Ayrılma maddesi (ABA md. 50) ilk kez Birleşik Krallık tarafından kullanıldı (bildirim: 29 Mart 2017)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Avrupa'nın Geleceği Konferansı (2021–2022) antlaşma değişikliği önerileri üretti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Antlaşma değişikliği oybirliği ve tüm üye devletlerde onay gerektirdiği için zor bir süreçtir (ABA md. 48)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Türkiye açısından antlaşmalar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2148840"/>
            <a:ext cx="8046720" cy="0"/>
          </a:xfrm>
          <a:prstGeom prst="line">
            <a:avLst/>
          </a:prstGeom>
          <a:noFill/>
          <a:ln w="25400">
            <a:solidFill>
              <a:srgbClr val="1423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032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1959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AET'ye ortaklık başvurusu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4144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3548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1963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94462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Anlaşması (AET'nin ortaklık hükmüne dayanır)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8256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660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1970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28574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 Protokol imzalandı (yürürlük 1973)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368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Kopenhag kriterleri: katılım için siyasi ve ekonomik koşullar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6480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5884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1996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96798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Gümrük Birliği yürürlüğe girdi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0592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9996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2009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30910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Lizbon: katılım usulü ABA md. 49'da düzenlendi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A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Tartışma soruları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Fransa ve Hollanda'nın 2005'teki "hayır" oyları, AB'nin demokratik meşruiyeti hakkında ne söylüyor?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antlaşmada uluslarüstü ve hükümetlerarası unsurlar arasındaki denge nasıl değişti?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Lizbon'dan bu yana neden yeni bir kapsamlı antlaşma yapılamadı?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Kaynaklar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Antlaşma metinleri ve konsolide ABA/ABİHA — eur-lex.europa.eu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Parlamentosu, "Fact Sheets on the European Union": Antlaşmaların tarihsel gelişimi — europarl.europa.eu/factsheets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Schuman Bildirisi, 9 Mayıs 1950 — european-union.europa.eu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CVCE.eu (Lüksemburg Üniversitesi), Avrupa bütünleşmesi belgeleri arşivi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T.C. Dışişleri Bakanlığı AB Başkanlığı, Türkiye-AB ilişkilerinin tarihçesi — ab.gov.tr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3159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Antlaşma tarihleri birincil kaynaklara göre kontrol edilmiştir (Ekim 2026).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AB'nin Temel Antlaşmaları</dc:title>
  <dc:subject>PptxGenJS Presentation</dc:subject>
  <dc:creator>SBK 3035 – ÇÖMÜ SBF</dc:creator>
  <cp:lastModifiedBy>SBK 3035 – ÇÖMÜ SBF</cp:lastModifiedBy>
  <cp:revision>1</cp:revision>
  <dcterms:created xsi:type="dcterms:W3CDTF">2026-10-10T10:01:00Z</dcterms:created>
  <dcterms:modified xsi:type="dcterms:W3CDTF">2026-10-10T10:01:00Z</dcterms:modified>
</cp:coreProperties>
</file>