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Uygulamada çoğu dosya, AP, Konsey ve Komisyon arasındaki gayriresmi "üçlü görüşmeler" (trilog) ile birinci okumada uzlaşılarak kabul edilir.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AB'nin Kurumsal Yapısı · SBK 3035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22356B"/>
          </a:solidFill>
          <a:ln/>
        </p:spPr>
      </p:sp>
      <p:sp>
        <p:nvSpPr>
          <p:cNvPr id="3" name="Shape 1"/>
          <p:cNvSpPr/>
          <p:nvPr/>
        </p:nvSpPr>
        <p:spPr>
          <a:xfrm>
            <a:off x="963777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4" name="Shape 2"/>
          <p:cNvSpPr/>
          <p:nvPr/>
        </p:nvSpPr>
        <p:spPr>
          <a:xfrm>
            <a:off x="9496894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5" name="Shape 3"/>
          <p:cNvSpPr/>
          <p:nvPr/>
        </p:nvSpPr>
        <p:spPr>
          <a:xfrm>
            <a:off x="911199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6" name="Shape 4"/>
          <p:cNvSpPr/>
          <p:nvPr/>
        </p:nvSpPr>
        <p:spPr>
          <a:xfrm>
            <a:off x="8586216" y="177393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7" name="Shape 5"/>
          <p:cNvSpPr/>
          <p:nvPr/>
        </p:nvSpPr>
        <p:spPr>
          <a:xfrm>
            <a:off x="8060436" y="163305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8" name="Shape 6"/>
          <p:cNvSpPr/>
          <p:nvPr/>
        </p:nvSpPr>
        <p:spPr>
          <a:xfrm>
            <a:off x="7675538" y="124815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9" name="Shape 7"/>
          <p:cNvSpPr/>
          <p:nvPr/>
        </p:nvSpPr>
        <p:spPr>
          <a:xfrm>
            <a:off x="7534656" y="72237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0" name="Shape 8"/>
          <p:cNvSpPr/>
          <p:nvPr/>
        </p:nvSpPr>
        <p:spPr>
          <a:xfrm>
            <a:off x="7675538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1" name="Shape 9"/>
          <p:cNvSpPr/>
          <p:nvPr/>
        </p:nvSpPr>
        <p:spPr>
          <a:xfrm>
            <a:off x="806043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86216" y="-329184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11996" y="-188302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496894" y="196596"/>
            <a:ext cx="201168" cy="201168"/>
          </a:xfrm>
          <a:prstGeom prst="star5">
            <a:avLst/>
          </a:prstGeom>
          <a:solidFill>
            <a:srgbClr val="D9A5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BİRLİĞİ HUKUKU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00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AB'nin Kurumsal Yapısı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017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 kurum, danışma organları ve karar alma süreci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SBK 3035 · AB ve Türkiye İlişkileri · ÇÖMÜ Siyasal Bilgiler Fakültesi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Kurumsal çerçeve: neden "yedi kurum"?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Hukuki dayanak: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Antlaşması (ABA) md. 13, Birliğin yedi kurumunu sayar.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devri ilkesi: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yalnızca antlaşmalarla kendisine verilen yetkileri kullanır (ABA md. 5).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İkincillik ve orantılılık: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Ulusal düzeyde daha iyi çözülebilecek konularda AB işlem yapmaz.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denge: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Yasama, yürütme ve yargı işlevleri kurumlar arasında paylaştırılmıştır.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yapı: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Lizbon Antlaşması ile 1 Aralık 2009'da yürürlüğe girmiştir.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kurumu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Parlamento, Avrupa Konseyi, Konsey, Komisyon, Adalet Divanı, Merkez Bankası, Sayıştay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Yedi kurum bir bakışta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219456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Kimlerden oluşur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işlevi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Merkezi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4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Parlamentosu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 seçilmiş milletvekili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Yasama, bütçe, denetim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Strazburg, Brüksel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Konseyi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Devlet/hükümet başkanları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siyasi yön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Brüksel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Konseyi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Üye devlet bakanları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Yasama, bütçe, koordinasyon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Brüksel, Lüksemburg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Komisyonu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komiser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Öneri ve yürütme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Brüksel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Adalet Divanı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Divan ve Genel Mahkeme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hukukunun yorumu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Lüksemburg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Merkez Bankası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Yönetim Kurulu ve Konseyi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 bölgesinde para politikası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Frankfurt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Avrupa Sayıştayı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üye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maliyesinin dış denetimi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Lüksemburg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Parlamentosu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halk tarafından seçilen tek AB kurumu; 5 yıllık dönem (son seçim: Haziran 2024).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Dağılım: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Nüfusa göre "azalan orantılılık": en az 6 (Malta, Lüksemburg, Kıbrıs), en çok 96 (Almanya).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Yetkiler: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 ile birlikte yasama ve bütçe; Komisyon'u onaylama ve gensoru; uluslararası anlaşmalara onay.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Örgütlenme: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Milletvekilleri ulusal değil, siyasi gruplar halinde oturur.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Metsola (EPP, Malta), 2024'te yeniden seçildi.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milletvekili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2024–2029 dönemi, 27 üye devlet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Konseyi (zirve)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Üyeleri: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devlet veya hükümet başkanı, Avrupa Konseyi Başkanı ve Komisyon Başkanı; Yüksek Temsilci de katılır.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siyasi yönü ve öncelikleri belirler; yasama yapmaz (ABA md. 15).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olarak oydaşma (konsensüs).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Tarihçe: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1974'ten beri toplanan zirveler, Lizbon ile resmi kurum oldu.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yıllık, bir kez yenilenebilir görev; António Costa (1 Aralık 2024'ten beri).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Akılda tutun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"ne yapılacağına" karar verir; yasaları AP ve AB Konseyi birlikte çıkarır.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 Konseyi (Bakanlar Konseyi)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Üyeleri: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üye devletten, gündemdeki konudan sorumlu bir bakan.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Oluşumlar: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Konuya göre 10 oluşum: Genel İşler, Dış İlişkiler, Ekonomi ve Maliye (ECOFIN), Tarım ve Balıkçılık vb.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ile birlikte yasama ve bütçe; üye devlet politikalarının koordinasyonu.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başkanlığı: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ayda bir değişir; 2026'nın ilk yarısında Kıbrıs, ikinci yarısında İrlanda.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Hazırlık: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Daimi temsilciler komitesi (COREPER) toplantıları hazırlar.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%55 + %65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nitelikli çoğunluk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 devletlerin en az %55'i (15 devlet) ve AB nüfusunun en az %65'i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karıştırılan üç "Konsey"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21280" cy="2377440"/>
          </a:xfrm>
          <a:prstGeom prst="roundRect">
            <a:avLst>
              <a:gd name="adj" fmla="val 3846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22555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kurumu. Devlet ve hükümet başkanlarının zirvesi; genel siyasi yönü belirler. Brüksel.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1360" y="1097280"/>
            <a:ext cx="2621280" cy="2377440"/>
          </a:xfrm>
          <a:prstGeom prst="roundRect">
            <a:avLst>
              <a:gd name="adj" fmla="val 3846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595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595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1972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Konseyi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4240" y="1719072"/>
            <a:ext cx="22555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kurumu. Üye devlet bakanlarından oluşur; AP ile birlikte yasa yapar. Brüksel.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65520" y="1097280"/>
            <a:ext cx="2621280" cy="2377440"/>
          </a:xfrm>
          <a:prstGeom prst="roundRect">
            <a:avLst>
              <a:gd name="adj" fmla="val 3846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011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011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23888" y="1207008"/>
            <a:ext cx="184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(Council of Europe)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48400" y="1719072"/>
            <a:ext cx="22555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kurumu değildir. 1949'da kurulan ayrı bir uluslararası örgüt; AİHM bu yapıya bağlıdır. Strazburg. Türkiye 1949'dan beri üyedir.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Komisyonu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üye devletten bir olmak üzere 27 üye (başkan dahil); 5 yıllık görev.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Atanma: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Başkanı Avrupa Konseyi önerir, AP seçer; komiserler kolej halinde AP onayından geçer.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yetkisi: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 önerme yetkisi büyük ölçüde Komisyon'a aittir.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"Antlaşmaların koruyucusu":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hukukunu ihlal eden devlete karşı ABAD'da dava açabilir (ABİHA md. 258).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Yürütme: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Bütçeyi uygular, rekabet politikasını yürütür, ticaret anlaşmalarını müzakere eder.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kadro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Başkan: Ursula von der Leyen (ikinci dönem, 1 Aralık 2024'ten beri)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Temsilci / Başkan Yardımcısı: Kaja Kallas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Birliği Adalet Divanı (ABAD)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Adalet Divanı: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üye devletten bir yargıç (27) ve 11 hukuk sözcüsü (genel avukat).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Mahkeme: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üye devletten iki yargıç (54 sandalye).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süresi: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yıl, yenilenebilir; üye devlet hükümetlerinin ortak kararıyla atanır. Merkez: Lüksemburg.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Başlıca davalar: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karar (ABİHA 267), iptal (263), ihlal (258), hareketsizlik (265).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Koen Lenaerts (Ekim 2024'te yeniden seçildi).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kararlar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2240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Gend en Loos (1963): AB hukukunun doğrudan etkisi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/ ENEL (1964): AB hukukunun ulusal hukuka üstünlüğü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Merkez Bankası (AMB)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bölgesinde para politikası; temel amaç fiyat istikrarı (orta vadede %2 enflasyon hedefi).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Kurulu: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Başkan, başkan yardımcısı ve 4 üye; 8 yıllık, yenilenemeyen görev.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Konseyi: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Kurulu + euro bölgesindeki ulusal merkez bankası başkanları.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Bağımsızlık: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kurumları ve hükümetlerden talimat alamaz (ABİHA md. 130). Merkez: Frankfurt.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 Lagarde (görev süresi Ekim 2027'de sona eriyor).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 bölgesi üyesi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Bulgaristan 1 Ocak 2026'da katılarak 21. üye oldu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Avrupa Sayıştayı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257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üye devletten bir üye (27); 6 yıllık, yenilenebilir görev. Merkez: Lüksemburg.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gelir ve giderlerinin dış denetimi; yıllık rapor ve "güvence beyanı".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Yargı veya yaptırım yetkisi yoktur; şüpheli usulsüzlükleri OLAF ve Avrupa Savcılığı'na (EPPO) bildirir.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Tarihçe: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1977'de kuruldu, 1993'te Maastricht ile kurum statüsü kazandı.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Başkan: </a:t>
            </a:r>
            <a:pPr indent="0" marL="0">
              <a:buNone/>
            </a:pPr>
            <a:r>
              <a:rPr lang="en-US" sz="16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Murphy (2022'den beri).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89320" y="114300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ED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0" y="1371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denetçi üye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bütçesinin "mali vicdanı"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Danışma organları ve diğer önemli kuruluşlar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 ve Sosyal Komite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üye; işverenler, işçiler ve sivil toplum. Yasama sürecinde görüş bildirir.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28032" y="124358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28032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07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Bölgeler Komitesi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1907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 üye; yerel ve bölgesel yönetim temsilcileri. Bölgeleri ilgilendiren konularda görüş bildirir.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EDF1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Ombudsmanı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tarafından seçilir; AB kurumlarındaki kötü yönetim şikayetlerini inceler. Teresa Anjinho (2025'ten beri).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8940"/>
            <a:ext cx="4023360" cy="1668780"/>
          </a:xfrm>
          <a:prstGeom prst="roundRect">
            <a:avLst>
              <a:gd name="adj" fmla="val 5479"/>
            </a:avLst>
          </a:prstGeom>
          <a:solidFill>
            <a:srgbClr val="F7F9FC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3095244"/>
            <a:ext cx="384048" cy="384048"/>
          </a:xfrm>
          <a:prstGeom prst="ellipse">
            <a:avLst/>
          </a:prstGeom>
          <a:solidFill>
            <a:srgbClr val="1423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28032" y="3095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0586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Yatırım Bankası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70732"/>
            <a:ext cx="365760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AB'nin kredi kuruluşu; projeleri finanse eder. Merkezi Lüksemburg'dadır.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Olağan yasama usulü (ABİHA md. 294)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25400">
            <a:solidFill>
              <a:srgbClr val="1423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3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öneri sunar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144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548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4462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birinci okumada tutumunu belirler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8256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660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28574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 kabul eder ya da kendi tutumunu belirler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368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okuma: AP ve Konsey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6480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5884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6798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Uzlaşmazlık halinde Uzlaşma Komitesi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05928" y="2029968"/>
            <a:ext cx="237744" cy="237744"/>
          </a:xfrm>
          <a:prstGeom prst="ellipse">
            <a:avLst/>
          </a:prstGeom>
          <a:solidFill>
            <a:srgbClr val="D9A5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99960" y="1280160"/>
            <a:ext cx="124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09104" y="2423160"/>
            <a:ext cx="1231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Üçüncü okuma ve kabul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Lizbon Antlaşması ile gelen kurumsal değişiklikler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ayrı bir kurum oldu ve daimi başkan getirildi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Temsilci / Komisyon Başkan Yardımcısı görevi ve Avrupa Dış Eylem Servisi (EEAS) kuruldu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Olağan yasama usulü ile AP, birçok yeni alanda Konsey'e eşit yasa koyucu oldu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Konsey'de "çifte çoğunluk" sistemi (2014'ten itibaren uygulanır)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Haklar Şartı bağlayıcı hale geldi; ulusal parlamentolara ikincillik denetimi verildi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Vatandaş Girişimi (en az 7 ülkeden 1 milyon imza) ve ayrılma maddesi (ABA md. 50)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Türkiye ile kurumsal bağlar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Ortaklık organları: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Anlaşması ile kurulan Ortaklık Konseyi ve Ortaklık Komitesi.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Gümrük Birliği Ortak Komitesi: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Gümrük Birliği'nin işleyişini izler.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Parlamento Komisyonu: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TBMM ve Avrupa Parlamentosu üyelerinden oluşur.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raporlar: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 ülke raporu hazırlar; AP buna kendi kararıyla yanıt verir.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142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AP kararı (17 Haziran 2026): </a:t>
            </a:r>
            <a:pPr indent="0" marL="0">
              <a:buNone/>
            </a:pPr>
            <a:r>
              <a:rPr lang="en-US" sz="18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 sürecinin "mevcut koşullarda yeniden başlayamayacağını" belirtti.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Tartışma soruları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AB'de "kuvvetler ayrılığı" ulus devletteki gibi işliyor mu? Hangi kurum hangi işlevi paylaşıyor?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seçilen tek kurum AP iken neden yasa önerme yetkisi Komisyon'da?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ile AB Konseyi arasındaki fark, egemenlik tartışmaları açısından neden önemli?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Antlaşması (ABA) ve AB'nin İşleyişi Hakkında Antlaşma (ABİHA), konsolide metin — eur-lex.europa.eu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Parlamentosu 2024 seçim sonuçları — results.elections.europa.eu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Konseyi ve AB Konseyi — consilium.europa.eu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Adalet Divanı — curia.europa.eu (Lenaerts'in yeniden seçilmesi, basın bülteni 175/24)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Merkez Bankası — ecb.europa.eu (Bulgaristan'ın euro bölgesine katılımı, 1 Ocak 2026)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Avrupa Ombudsmanı — ombudsman.europa.eu; Avrupa Sayıştayı — eca.europa.eu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AP'nin 2025 Türkiye Raporu kararı, 2025/2256(INI), 17 Haziran 2026 — oeil.europarl.europa.eu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sayılar (sandalye dağılımı, aday ülke durumu vb.) zamanla değişir; derste kullanmadan önce resmi kaynaktan teyit edilmesi önerilir. Bilgiler Ekim 2026 itibarıyla kontrol edilmiştir.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AB'nin Kurumsal Yapısı</dc:title>
  <dc:subject>PptxGenJS Presentation</dc:subject>
  <dc:creator>SBK 3035 – ÇÖMÜ SBF</dc:creator>
  <cp:lastModifiedBy>SBK 3035 – ÇÖMÜ SBF</cp:lastModifiedBy>
  <cp:revision>1</cp:revision>
  <dcterms:created xsi:type="dcterms:W3CDTF">2026-10-10T10:01:00Z</dcterms:created>
  <dcterms:modified xsi:type="dcterms:W3CDTF">2026-10-10T10:01:00Z</dcterms:modified>
</cp:coreProperties>
</file>