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Bunlara ek olarak AB'nin yeni üyeleri özümseme kapasitesi de bir koşul olarak anılır. 1995 Madrid Zirvesi idari kapasiteyi vurguladı.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AB'nin Genişlemesi · SBK 3035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3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97280"/>
            <a:ext cx="3840480" cy="3840480"/>
          </a:xfrm>
          <a:prstGeom prst="ellipse">
            <a:avLst/>
          </a:prstGeom>
          <a:solidFill>
            <a:srgbClr val="22356B"/>
          </a:solidFill>
          <a:ln/>
        </p:spPr>
      </p:sp>
      <p:sp>
        <p:nvSpPr>
          <p:cNvPr id="3" name="Shape 1"/>
          <p:cNvSpPr/>
          <p:nvPr/>
        </p:nvSpPr>
        <p:spPr>
          <a:xfrm>
            <a:off x="9637776" y="72237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4" name="Shape 2"/>
          <p:cNvSpPr/>
          <p:nvPr/>
        </p:nvSpPr>
        <p:spPr>
          <a:xfrm>
            <a:off x="9496894" y="124815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5" name="Shape 3"/>
          <p:cNvSpPr/>
          <p:nvPr/>
        </p:nvSpPr>
        <p:spPr>
          <a:xfrm>
            <a:off x="9111996" y="1633054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6" name="Shape 4"/>
          <p:cNvSpPr/>
          <p:nvPr/>
        </p:nvSpPr>
        <p:spPr>
          <a:xfrm>
            <a:off x="8586216" y="177393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7" name="Shape 5"/>
          <p:cNvSpPr/>
          <p:nvPr/>
        </p:nvSpPr>
        <p:spPr>
          <a:xfrm>
            <a:off x="8060436" y="1633054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8" name="Shape 6"/>
          <p:cNvSpPr/>
          <p:nvPr/>
        </p:nvSpPr>
        <p:spPr>
          <a:xfrm>
            <a:off x="7675538" y="124815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9" name="Shape 7"/>
          <p:cNvSpPr/>
          <p:nvPr/>
        </p:nvSpPr>
        <p:spPr>
          <a:xfrm>
            <a:off x="7534656" y="72237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0" name="Shape 8"/>
          <p:cNvSpPr/>
          <p:nvPr/>
        </p:nvSpPr>
        <p:spPr>
          <a:xfrm>
            <a:off x="7675538" y="19659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1" name="Shape 9"/>
          <p:cNvSpPr/>
          <p:nvPr/>
        </p:nvSpPr>
        <p:spPr>
          <a:xfrm>
            <a:off x="8060436" y="-188302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2" name="Shape 10"/>
          <p:cNvSpPr/>
          <p:nvPr/>
        </p:nvSpPr>
        <p:spPr>
          <a:xfrm>
            <a:off x="8586216" y="-329184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3" name="Shape 11"/>
          <p:cNvSpPr/>
          <p:nvPr/>
        </p:nvSpPr>
        <p:spPr>
          <a:xfrm>
            <a:off x="9111996" y="-188302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4" name="Shape 12"/>
          <p:cNvSpPr/>
          <p:nvPr/>
        </p:nvSpPr>
        <p:spPr>
          <a:xfrm>
            <a:off x="9496894" y="19659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1234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ALTILARDAN YİRMİ YEDİLERE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16002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AB'nin Genişlemesi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0175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Genişleme dalgaları, Brexit ve bugünkü aday ülkeler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SBK 3035 · AB ve Türkiye İlişkileri · ÇÖMÜ Siyasal Bilgiler Fakültesi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Genişleme dalgaları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217920"/>
                <a:gridCol w="11887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Yıl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Katılan ülkeler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Üye sayısı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4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Kurucular: Belçika, Fransa, Batı Almanya, İtalya, Lüksemburg, Hollanda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Danimarka, İrlanda, Birleşik Krallık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Yunanistan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İspanya, Portekiz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Avusturya, Finlandiya, İsveç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Çekya, Estonya, Kıbrıs, Letonya, Litvanya, Macaristan, Malta, Polonya, Slovakya, Slovenya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Bulgaristan, Romanya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Hırvatistan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Birleşik Krallık ayrıldı (Brexit)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1990: Doğu Almanya, Almanya'nın birleşmesiyle yeni bir üye devlet olmadan AT'ye dahil oldu.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Kopenhag kriterleri (Haziran 1993)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21280" cy="2468880"/>
          </a:xfrm>
          <a:prstGeom prst="roundRect">
            <a:avLst>
              <a:gd name="adj" fmla="val 3704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207008"/>
            <a:ext cx="184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Siyasi kriter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19072"/>
            <a:ext cx="22555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Demokrasiyi, hukukun üstünlüğünü, insan haklarını ve azınlıkların korunmasını güvence altına alan istikrarlı kurumlar.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61360" y="1097280"/>
            <a:ext cx="2621280" cy="2468880"/>
          </a:xfrm>
          <a:prstGeom prst="roundRect">
            <a:avLst>
              <a:gd name="adj" fmla="val 3704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595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595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19728" y="1207008"/>
            <a:ext cx="184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Ekonomik kriter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44240" y="1719072"/>
            <a:ext cx="22555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İşleyen bir piyasa ekonomisi ve AB içindeki rekabet baskısıyla başa çıkabilme kapasitesi.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65520" y="1097280"/>
            <a:ext cx="2621280" cy="2468880"/>
          </a:xfrm>
          <a:prstGeom prst="roundRect">
            <a:avLst>
              <a:gd name="adj" fmla="val 3704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011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011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23888" y="1207008"/>
            <a:ext cx="184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Müktesebat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48400" y="1719072"/>
            <a:ext cx="22555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Üyelik yükümlülüklerini üstlenme; AB hukukunu (acquis) uygulama kapasitesi.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Batı ve Güney genişlemeleri (1973–1995)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2070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genişleme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1907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Danimarka, İrlanda ve Birleşik Krallık. İngiltere'nin başvuruları 1963 ve 1967'de De Gaulle tarafından veto edilmişti. Norveç 1972 referandumunda üyeliği reddetti.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F7F9FC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2803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2803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321808" y="12070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Yunanistan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1907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1974'te askeri yönetimin sona ermesinin ardından demokrasiyi pekiştirme hedefi.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4894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309524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" y="3095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1986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30586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İspanya ve Portekiz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7073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Franco ve Salazar–Caetano diktatörlüklerinden çıkan iki ülke; tarım ve balıkçılık müzakereleri zorlu geçti.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94894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F7F9FC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28032" y="309524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28032" y="3095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321808" y="30586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EFTA genişlemesi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57073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Avusturya, Finlandiya ve İsveç; Soğuk Savaş'ın bitişiyle tarafsızlık engeli zayıfladı. Norveç 1994'te ikinci kez "hayır" dedi.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2004 "büyük patlama" genişlemesi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yeni üye: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Orta ve Doğu Avrupa ülkesi ile Malta ve Kıbrıs; 1 Mayıs 2004.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Anlamı: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Soğuk Savaş bölünmüşlüğünün sona ermesi; eski Varşova Paktı ülkelerinin AB'ye girişi.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Koşullar: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Kopenhag kriterleri ilk kez sistematik olarak uygulandı.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Kıbrıs: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Nisan 2004 Annan Planı referandumunda Kıbrıslı Türkler "evet" (%65), Kıbrıslı Rumlar "hayır" (%76) dedi.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AB'ye bölünmüş olarak girdi; AB hukuku kuzeyde askıya alındı (Katılım Antlaşması, Protokol 10).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26480" y="13716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ülke tek seferde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tarihinin en büyük genişlemesi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2007 ve 2013 genişlemeleri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520440"/>
          </a:xfrm>
          <a:prstGeom prst="roundRect">
            <a:avLst>
              <a:gd name="adj" fmla="val 2597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2070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Bulgaristan ve Romanya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19072"/>
            <a:ext cx="365760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Yargı reformu ve yolsuzlukla mücadele için İşbirliği ve Doğrulama Mekanizması (CVM) altında katıldılar. Schengen'e tam üyelik 1 Ocak 2025'te gerçekleşti. Bulgaristan 1 Ocak 2026'da euroya geçti.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3520440"/>
          </a:xfrm>
          <a:prstGeom prst="roundRect">
            <a:avLst>
              <a:gd name="adj" fmla="val 2597"/>
            </a:avLst>
          </a:prstGeom>
          <a:solidFill>
            <a:srgbClr val="F7F9FC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2803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2803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321808" y="12070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Hırvatistan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19072"/>
            <a:ext cx="365760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Eski Yugoslavya'dan Slovenya'dan sonra katılan ikinci ülke. 1 Ocak 2023'te hem euro bölgesine hem Schengen'e katıldı.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Brexit: ilk ayrılık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2148840"/>
            <a:ext cx="8046720" cy="0"/>
          </a:xfrm>
          <a:prstGeom prst="line">
            <a:avLst/>
          </a:prstGeom>
          <a:noFill/>
          <a:ln w="25400">
            <a:solidFill>
              <a:srgbClr val="1423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423160"/>
            <a:ext cx="14996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Haziran referandumu: %51,9 ayrılık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43784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03704" y="128016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212848" y="2423160"/>
            <a:ext cx="14996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Mart: ABA md. 50 bildirimi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5312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13048" y="128016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822192" y="2423160"/>
            <a:ext cx="14996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Ocak: Birleşik Krallık AB'den ayrıldı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62472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22392" y="128016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431536" y="2423160"/>
            <a:ext cx="14996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Aralık: geçiş dönemi sona erdi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71816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31736" y="128016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2021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2423160"/>
            <a:ext cx="14996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Ticaret ve İşbirliği Anlaşması uygulanmaya başladı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Bugünkü aday ülkeler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5394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Ülke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Adaylık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Müzakere durumu (Ekim 2026)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4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Karadağ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2012'de başladı; 33 faslın tamamı açık, 18'i geçici olarak kapatıldı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Arnavutluk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2022'de başladı; 33 faslın tamamı açık, 3'ü geçici olarak kapatıldı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Ukrayna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2024'te başladı; 2026'da 1. ve 6. fasıl kümeleri açıldı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Moldova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2024'te başladı; 2026'da 1. ve 6. fasıl kümeleri açıldı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Sırbistan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2014'te başladı; ilerleme yavaş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Kuzey Makedonya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2022'de başladı; fasıl kümelerinin açılması bekliyor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Bosna-Hersek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 2024'te müzakereleri açma kararı alındı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Gürcistan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Süreç 2024'ten beri fiilen durdu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Türkiye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2005'te başladı; 2018'den beri fiilen durmuş durumda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Kosova potansiyel aday statüsündedir (başvuru: Aralık 2022). Kaynak: AB Konseyi, 14 Temmuz 2026; Avrupa Komisyonu.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Türkiye'nin katılım süreci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Gelişme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Nisan 1987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 üyelik başvurusu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Aralık 1989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Komisyon görüşü: müzakereler için erken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Aralık 1997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Lüksemburg Zirvesi: Türkiye aday listesine alınmadı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Aralık 1999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Helsinki Zirvesi: aday ülke statüsü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Ekim 2005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Katılım müzakereleri başladı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Aralık 2006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Konsey, Kıbrıs'a ilişkin Ek Protokol nedeniyle 8 faslı askıya aldı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Mart 2016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AB-Türkiye Mutabakatı (göç)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Haziran 2018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Konsey: yeni fasıl açılması öngörülmüyor; süreç fiilen durdu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Türkiye: fasıllar ve bugünkü durum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Fasıllar: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fasıldan 16'sı açıldı; yalnızca 1'i (Bilim ve Araştırma) geçici olarak kapatıldı.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Engeller: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Konsey'in 8 fasıl için askıya alma kararı ve bazı üye devletlerin tek taraflı blokajları.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kararı (17 Haziran 2026):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 "mevcut koşullarda yeniden başlayamaz"; hukukun üstünlüğünde somut ilerleme şart.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Önerilen alternatif: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Ortaklık Anlaşması'nın güncellenmesi ve daha stratejik bir ortaklık.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Ekonomik bağ: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2025'te mal ticareti 217 milyar avroyu aştı; AB, Türkiye'nin ticaretinin %36'sından fazlasıyla en büyük ortağı.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26480" y="13716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35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fasıl açıldı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1 fasıl geçici olarak kapatıldı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Genişleme yeniden gündemde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Rusya'nın 2022'de Ukrayna'yı işgali, genişlemeyi jeopolitik bir öncelik haline getirdi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Karadağ müzakereleri 2026 sonunda, Arnavutluk ise 2027'de tamamlamayı hedefliyor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Eylül 2026: AB'nin dört aday (Karadağ, Arnavutluk, Ukrayna, Moldova) için katılım yol haritaları hazırladığı bildirildi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Tartışma: 30 ve üzeri üyeli bir AB için oybirliği kuralı ve kurumlar yeniden düzenlenmeli mi?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A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Tartışma soruları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Kopenhag kriterleri tüm adaylara eşit uygulandı mı? 2007 genişlemesi ile Türkiye'nin süreci karşılaştırılabilir mi?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Genişleme bir değerler projesi mi, yoksa jeopolitik bir araç mı?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Brexit, "üyelik geri dönülmez değildir" fikrini nasıl değiştirdi?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Kaynaklar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Konseyi, "EU enlargement advances with four accession conferences in one day", 14 Temmuz 2026 — consilium.europa.eu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Komisyonu, Genişleme ve Doğu Komşuluğu: aday ülkeler sayfaları — enlargement.ec.europa.eu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Konseyi, AB-Türkiye ticaret ilişkileri infografiği (2025 verileri) — consilium.europa.eu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AP'nin 2025 Türkiye Raporu kararı, 2025/2256(INI), 17 Haziran 2026 — oeil.europarl.europa.eu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RFE/RL, R. Jozwiak, "The EU Is Ready To Expand Again", Kasım 2025 — rferl.org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Merkez Bankası, Bulgaristan'ın euro bölgesine katılımı, 1 Ocak 2026 — ecb.europa.eu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T.C. Dışişleri Bakanlığı AB Başkanlığı, Türkiye-AB ilişkileri tarihçesi — ab.gov.tr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3159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 sayılar (sandalye dağılımı, aday ülke durumu vb.) zamanla değişir; derste kullanmadan önce resmi kaynaktan teyit edilmesi önerilir. Bilgiler Ekim 2026 itibarıyla kontrol edilmiştir.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AB'nin Genişlemesi</dc:title>
  <dc:subject>PptxGenJS Presentation</dc:subject>
  <dc:creator>SBK 3035 – ÇÖMÜ SBF</dc:creator>
  <cp:lastModifiedBy>SBK 3035 – ÇÖMÜ SBF</cp:lastModifiedBy>
  <cp:revision>1</cp:revision>
  <dcterms:created xsi:type="dcterms:W3CDTF">2026-10-10T10:01:00Z</dcterms:created>
  <dcterms:modified xsi:type="dcterms:W3CDTF">2026-10-10T10:01:00Z</dcterms:modified>
</cp:coreProperties>
</file>