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slideMasters/slideMaster3.xml" ContentType="application/vnd.openxmlformats-officedocument.presentationml.slideMaster+xml"/>
  <Override PartName="/ppt/slides/slide3.xml" ContentType="application/vnd.openxmlformats-officedocument.presentationml.slide+xml"/>
  <Override PartName="/ppt/charts/chart1.xml" ContentType="application/vnd.openxmlformats-officedocument.drawingml.chart+xml"/>
  <Override PartName="/ppt/slideMasters/slideMaster4.xml" ContentType="application/vnd.openxmlformats-officedocument.presentationml.slideMaster+xml"/>
  <Override PartName="/ppt/slides/slide4.xml" ContentType="application/vnd.openxmlformats-officedocument.presentationml.slide+xml"/>
  <Override PartName="/ppt/slideMasters/slideMaster5.xml" ContentType="application/vnd.openxmlformats-officedocument.presentationml.slideMaster+xml"/>
  <Override PartName="/ppt/slides/slide5.xml" ContentType="application/vnd.openxmlformats-officedocument.presentationml.slide+xml"/>
  <Override PartName="/ppt/slideMasters/slideMaster6.xml" ContentType="application/vnd.openxmlformats-officedocument.presentationml.slideMaster+xml"/>
  <Override PartName="/ppt/slides/slide6.xml" ContentType="application/vnd.openxmlformats-officedocument.presentationml.slide+xml"/>
  <Override PartName="/ppt/slideMasters/slideMaster7.xml" ContentType="application/vnd.openxmlformats-officedocument.presentationml.slideMaster+xml"/>
  <Override PartName="/ppt/slides/slide7.xml" ContentType="application/vnd.openxmlformats-officedocument.presentationml.slide+xml"/>
  <Override PartName="/ppt/slideMasters/slideMaster8.xml" ContentType="application/vnd.openxmlformats-officedocument.presentationml.slideMaster+xml"/>
  <Override PartName="/ppt/slides/slide8.xml" ContentType="application/vnd.openxmlformats-officedocument.presentationml.slide+xml"/>
  <Override PartName="/ppt/slideMasters/slideMaster9.xml" ContentType="application/vnd.openxmlformats-officedocument.presentationml.slideMaster+xml"/>
  <Override PartName="/ppt/slides/slide9.xml" ContentType="application/vnd.openxmlformats-officedocument.presentationml.slide+xml"/>
  <Override PartName="/ppt/slideMasters/slideMaster10.xml" ContentType="application/vnd.openxmlformats-officedocument.presentationml.slideMaster+xml"/>
  <Override PartName="/ppt/slides/slide10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</p:sldIdLst>
  <p:notesMasterIdLst>
    <p:notesMasterId r:id="rId12"/>
  </p:notesMasterIdLst>
  <p:sldSz cx="9144000" cy="5143500"/>
  <p:notesSz cx="5143500" cy="9144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slide" Target="slides/slide7.xml"/><Relationship Id="rId9" Type="http://schemas.openxmlformats.org/officeDocument/2006/relationships/slide" Target="slides/slide8.xml"/><Relationship Id="rId10" Type="http://schemas.openxmlformats.org/officeDocument/2006/relationships/slide" Target="slides/slide9.xml"/><Relationship Id="rId11" Type="http://schemas.openxmlformats.org/officeDocument/2006/relationships/slide" Target="slides/slide10.xml"/><Relationship Id="rId12" Type="http://schemas.openxmlformats.org/officeDocument/2006/relationships/notesMaster" Target="notesMasters/notesMaster1.xml"/><Relationship Id="rId13" Type="http://schemas.openxmlformats.org/officeDocument/2006/relationships/presProps" Target="presProps.xml"/><Relationship Id="rId14" Type="http://schemas.openxmlformats.org/officeDocument/2006/relationships/viewProps" Target="viewProps.xml"/><Relationship Id="rId15" Type="http://schemas.openxmlformats.org/officeDocument/2006/relationships/theme" Target="theme/theme1.xml"/><Relationship Id="rId16" Type="http://schemas.openxmlformats.org/officeDocument/2006/relationships/tableStyles" Target="tableStyles.xml"/></Relationships>
</file>

<file path=ppt/charts/_rels/chart1.xml.rels><?xml version="1.0" encoding="UTF-8" standalone="yes"?><Relationships xmlns="http://schemas.openxmlformats.org/package/2006/relationships"><Relationship Id="rId1" Type="http://schemas.openxmlformats.org/officeDocument/2006/relationships/package" Target="../embeddings/Microsoft_Excel_Worksheet1.xlsx"/></Relationships>
</file>

<file path=ppt/charts/chart1.xml><?xml version="1.0" encoding="utf-8"?>
<c:chartSpace xmlns:c="http://schemas.openxmlformats.org/drawingml/2006/chart" xmlns:a="http://schemas.openxmlformats.org/drawingml/2006/main" xmlns:r="http://schemas.openxmlformats.org/officeDocument/2006/relationships">
  <c:date1904 val="0"/>
  <c:roundedCorners val="1"/>
  <c:chart>
    <c:autoTitleDeleted val="1"/>
    <c:plotArea>
      <c:layout/>
      <c:barChart>
        <c:barDir val="bar"/>
        <c:grouping val="clustered"/>
        <c:varyColors val="0"/>
        <c:ser>
          <c:idx val="0"/>
          <c:order val="0"/>
          <c:tx>
            <c:strRef>
              <c:f>Sheet1!$B$1</c:f>
              <c:strCache>
                <c:ptCount val="1"/>
                <c:pt idx="0">
                  <c:v>Sandalye</c:v>
                </c:pt>
              </c:strCache>
            </c:strRef>
          </c:tx>
          <c:spPr>
            <a:solidFill>
              <a:srgbClr val="14234B"/>
            </a:solidFill>
            <a:effectLst/>
          </c:spPr>
          <c:invertIfNegative val="0"/>
          <c:dLbls>
            <c:numFmt formatCode="#,##0" sourceLinked="0"/>
            <c:txPr>
              <a:bodyPr/>
              <a:lstStyle/>
              <a:p>
                <a:pPr>
                  <a:defRPr b="0" i="0" strike="noStrike" sz="1200" u="none">
                    <a:solidFill>
                      <a:srgbClr val="1E2433"/>
                    </a:solidFill>
                    <a:latin typeface="+mn-lt"/>
                  </a:defRPr>
                </a:pPr>
              </a:p>
            </c:txPr>
            <c:showLegendKey val="0"/>
            <c:showVal val="1"/>
            <c:showCatName val="0"/>
            <c:showSerName val="0"/>
            <c:showPercent val="0"/>
            <c:showBubbleSize val="0"/>
            <c:showLeaderLines val="0"/>
          </c:dLbls>
          <c:dPt>
            <c:idx val="0"/>
            <c:invertIfNegative val="0"/>
            <c:bubble3D val="0"/>
            <c:spPr>
              <a:solidFill>
                <a:srgbClr val="14234B"/>
              </a:solidFill>
              <a:effectLst/>
            </c:spPr>
          </c:dPt>
          <c:dPt>
            <c:idx val="1"/>
            <c:invertIfNegative val="0"/>
            <c:bubble3D val="0"/>
            <c:spPr>
              <a:solidFill>
                <a:srgbClr val="14234B"/>
              </a:solidFill>
              <a:effectLst/>
            </c:spPr>
          </c:dPt>
          <c:dPt>
            <c:idx val="2"/>
            <c:invertIfNegative val="0"/>
            <c:bubble3D val="0"/>
            <c:spPr>
              <a:solidFill>
                <a:srgbClr val="14234B"/>
              </a:solidFill>
              <a:effectLst/>
            </c:spPr>
          </c:dPt>
          <c:dPt>
            <c:idx val="3"/>
            <c:invertIfNegative val="0"/>
            <c:bubble3D val="0"/>
            <c:spPr>
              <a:solidFill>
                <a:srgbClr val="14234B"/>
              </a:solidFill>
              <a:effectLst/>
            </c:spPr>
          </c:dPt>
          <c:dPt>
            <c:idx val="4"/>
            <c:invertIfNegative val="0"/>
            <c:bubble3D val="0"/>
            <c:spPr>
              <a:solidFill>
                <a:srgbClr val="14234B"/>
              </a:solidFill>
              <a:effectLst/>
            </c:spPr>
          </c:dPt>
          <c:dPt>
            <c:idx val="5"/>
            <c:invertIfNegative val="0"/>
            <c:bubble3D val="0"/>
            <c:spPr>
              <a:solidFill>
                <a:srgbClr val="14234B"/>
              </a:solidFill>
              <a:effectLst/>
            </c:spPr>
          </c:dPt>
          <c:dPt>
            <c:idx val="6"/>
            <c:invertIfNegative val="0"/>
            <c:bubble3D val="0"/>
            <c:spPr>
              <a:solidFill>
                <a:srgbClr val="14234B"/>
              </a:solidFill>
              <a:effectLst/>
            </c:spPr>
          </c:dPt>
          <c:dPt>
            <c:idx val="7"/>
            <c:invertIfNegative val="0"/>
            <c:bubble3D val="0"/>
            <c:spPr>
              <a:solidFill>
                <a:srgbClr val="14234B"/>
              </a:solidFill>
              <a:effectLst/>
            </c:spPr>
          </c:dPt>
          <c:dPt>
            <c:idx val="8"/>
            <c:invertIfNegative val="0"/>
            <c:bubble3D val="0"/>
            <c:spPr>
              <a:solidFill>
                <a:srgbClr val="14234B"/>
              </a:solidFill>
              <a:effectLst/>
            </c:spPr>
          </c:dPt>
          <c:cat>
            <c:multiLvlStrRef>
              <c:f>Sheet1!$A$2:$A$10</c:f>
              <c:multiLvlStrCache>
                <c:ptCount val="9"/>
                <c:lvl>
                  <c:pt idx="0">
                    <c:v>EPP</c:v>
                  </c:pt>
                  <c:pt idx="1">
                    <c:v>S&amp;D</c:v>
                  </c:pt>
                  <c:pt idx="2">
                    <c:v>Patriots (PfE)</c:v>
                  </c:pt>
                  <c:pt idx="3">
                    <c:v>ECR</c:v>
                  </c:pt>
                  <c:pt idx="4">
                    <c:v>Renew Europe</c:v>
                  </c:pt>
                  <c:pt idx="5">
                    <c:v>Yeşiller/EFA</c:v>
                  </c:pt>
                  <c:pt idx="6">
                    <c:v>Sol (The Left)</c:v>
                  </c:pt>
                  <c:pt idx="7">
                    <c:v>Bağımsızlar (NI)</c:v>
                  </c:pt>
                  <c:pt idx="8">
                    <c:v>ESN</c:v>
                  </c:pt>
                </c:lvl>
              </c:multiLvlStrCache>
            </c:multiLvlStrRef>
          </c:cat>
          <c:val>
            <c:numRef>
              <c:f>Sheet1!$B$2:$B$10</c:f>
              <c:numCache>
                <c:formatCode>General</c:formatCode>
                <c:ptCount val="9"/>
                <c:pt idx="0">
                  <c:v>188</c:v>
                </c:pt>
                <c:pt idx="1">
                  <c:v>136</c:v>
                </c:pt>
                <c:pt idx="2">
                  <c:v>84</c:v>
                </c:pt>
                <c:pt idx="3">
                  <c:v>78</c:v>
                </c:pt>
                <c:pt idx="4">
                  <c:v>77</c:v>
                </c:pt>
                <c:pt idx="5">
                  <c:v>53</c:v>
                </c:pt>
                <c:pt idx="6">
                  <c:v>46</c:v>
                </c:pt>
                <c:pt idx="7">
                  <c:v>33</c:v>
                </c:pt>
                <c:pt idx="8">
                  <c:v>25</c:v>
                </c:pt>
              </c:numCache>
            </c:numRef>
          </c:val>
        </c:ser>
        <c:dLbls>
          <c:numFmt formatCode="#,##0" sourceLinked="0"/>
          <c:txPr>
            <a:bodyPr/>
            <a:lstStyle/>
            <a:p>
              <a:pPr>
                <a:defRPr b="0" i="0" strike="noStrike" sz="1200" u="none">
                  <a:solidFill>
                    <a:srgbClr val="1E2433"/>
                  </a:solidFill>
                  <a:latin typeface="+mn-lt"/>
                </a:defRPr>
              </a:pPr>
            </a:p>
          </c:txPr>
          <c:showLegendKey val="0"/>
          <c:showVal val="1"/>
          <c:showCatName val="0"/>
          <c:showSerName val="0"/>
          <c:showPercent val="0"/>
          <c:showBubbleSize val="0"/>
          <c:showLeaderLines val="0"/>
        </c:dLbls>
        <c:gapWidth val="45"/>
        <c:overlap val="0"/>
        <c:axId val="2094734554"/>
        <c:axId val="2094734552"/>
        <c:axId val="2094734556"/>
      </c:barChart>
      <c:catAx>
        <c:axId val="2094734554"/>
        <c:scaling>
          <c:orientation val="maxMin"/>
        </c:scaling>
        <c:delete val="0"/>
        <c:axPos val="l"/>
        <c:numFmt formatCode="General" sourceLinked="1"/>
        <c:majorTickMark val="out"/>
        <c:minorTickMark val="none"/>
        <c:tickLblPos val="nextTo"/>
        <c:spPr>
          <a:ln w="12700" cap="flat">
            <a:solidFill>
              <a:srgbClr val="888888"/>
            </a:solidFill>
            <a:prstDash val="solid"/>
            <a:round/>
          </a:ln>
        </c:spPr>
        <c:txPr>
          <a:bodyPr/>
          <a:lstStyle/>
          <a:p>
            <a:pPr>
              <a:defRPr sz="1200" b="0" i="0" u="none" strike="noStrike">
                <a:solidFill>
                  <a:srgbClr val="1E2433"/>
                </a:solidFill>
                <a:latin typeface="+mn-lt"/>
              </a:defRPr>
            </a:pPr>
            <a:endParaRPr lang="en-US"/>
          </a:p>
        </c:txPr>
        <c:crossAx val="2094734552"/>
        <c:crosses val="autoZero"/>
        <c:auto val="1"/>
        <c:lblAlgn val="ctr"/>
        <c:noMultiLvlLbl val="1"/>
      </c:catAx>
      <c:valAx>
        <c:axId val="2094734552"/>
        <c:scaling>
          <c:orientation val="minMax"/>
        </c:scaling>
        <c:delete val="1"/>
        <c:axPos val="b"/>
        <c:numFmt formatCode="General" sourceLinked="0"/>
        <c:majorTickMark val="out"/>
        <c:minorTickMark val="none"/>
        <c:tickLblPos val="low"/>
        <c:spPr>
          <a:ln w="12700" cap="flat">
            <a:solidFill>
              <a:srgbClr val="888888"/>
            </a:solidFill>
            <a:prstDash val="solid"/>
            <a:round/>
          </a:ln>
        </c:spPr>
        <c:txPr>
          <a:bodyPr/>
          <a:lstStyle/>
          <a:p>
            <a:pPr>
              <a:defRPr sz="1200" b="0" i="0" u="none" strike="noStrike">
                <a:solidFill>
                  <a:srgbClr val="000000"/>
                </a:solidFill>
                <a:latin typeface="Arial"/>
              </a:defRPr>
            </a:pPr>
            <a:endParaRPr lang="en-US"/>
          </a:p>
        </c:txPr>
        <c:crossAx val="2094734554"/>
        <c:crosses val="autoZero"/>
        <c:crossBetween val="between"/>
      </c:valAx>
      <c:spPr>
        <a:noFill/>
        <a:ln>
          <a:noFill/>
        </a:ln>
        <a:effectLst/>
      </c:spPr>
    </c:plotArea>
    <c:plotVisOnly val="1"/>
    <c:dispBlanksAs val="span"/>
  </c:chart>
  <c:spPr>
    <a:noFill/>
    <a:ln>
      <a:noFill/>
    </a:ln>
    <a:effectLst/>
  </c:spPr>
  <c:externalData r:id="rId1">
    <c:autoUpdate val="0"/>
  </c:externalData>
</c:chartSpace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_rels/notesSlide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.xml"/>
		</Relationships>
</file>

<file path=ppt/notesSlides/_rels/notesSlide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.xml"/>
		</Relationships>
</file>

<file path=ppt/notesSlides/_rels/notesSlide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.xml"/>
		</Relationships>
</file>

<file path=ppt/notesSlides/_rels/notesSlide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.xml"/>
		</Relationships>
</file>

<file path=ppt/notesSlides/_rels/notesSlide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7.xml"/>
		</Relationships>
</file>

<file path=ppt/notesSlides/_rels/notesSlide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8.xml"/>
		</Relationships>
</file>

<file path=ppt/notesSlides/_rels/notesSlide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9.xml"/>
		</Relationships>
</file>

<file path=ppt/notesSlides/_rels/notesSlide10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0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CONTENT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4773168"/>
            <a:ext cx="59436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5B647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AP'de Siyasi Gruplar · SBK 3035</a:t>
            </a:r>
            <a:endParaRPr lang="en-US" sz="10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8229600" y="4773168"/>
            <a:ext cx="457200" cy="256032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000">
                <a:solidFill>
                  <a:srgbClr val="5B6475"/>
                </a:solidFill>
                <a:latin typeface="Calibri"/>
                <a:ea typeface="Calibri"/>
                <a:cs typeface="Calibri"/>
              </a:defRPr>
            </a:lvl1pPr>
          </a:lstStyle>
          <a:p>
            <a:pPr algn="r"/>
            <a:fld id="{F7021451-1387-4CA6-816F-3879F97B5CBC}" type="slidenum">
              <a:rPr b="0" lang="en-US"/>
              <a:t>1002</a:t>
            </a:fld>
            <a:endParaRPr lang="en-US"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ARK">
    <p:bg>
      <p:bgPr>
        <a:solidFill>
          <a:srgbClr val="14234B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8229600" y="4773168"/>
            <a:ext cx="457200" cy="256032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000">
                <a:solidFill>
                  <a:srgbClr val="5B6475"/>
                </a:solidFill>
                <a:latin typeface="Calibri"/>
                <a:ea typeface="Calibri"/>
                <a:cs typeface="Calibri"/>
              </a:defRPr>
            </a:lvl1pPr>
          </a:lstStyle>
          <a:p>
            <a:pPr algn="r"/>
            <a:fld id="{F7021451-1387-4CA6-816F-3879F97B5CBC}" type="slidenum">
              <a:rPr b="0" lang="en-US"/>
              <a:t>null</a:t>
            </a:fld>
            <a:endParaRPr lang="en-US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chart" Target="/ppt/charts/chart1.xml"/><Relationship Id="rId2" Type="http://schemas.openxmlformats.org/officeDocument/2006/relationships/slideLayout" Target="../slideLayouts/slideLayout2.xml"/><Relationship Id="rId3" Type="http://schemas.openxmlformats.org/officeDocument/2006/relationships/notesSlide" Target="../notesSlides/notesSlide3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4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5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6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7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8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9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10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6766560" y="-1097280"/>
            <a:ext cx="3840480" cy="3840480"/>
          </a:xfrm>
          <a:prstGeom prst="ellipse">
            <a:avLst/>
          </a:prstGeom>
          <a:solidFill>
            <a:srgbClr val="22356B"/>
          </a:solidFill>
          <a:ln/>
        </p:spPr>
      </p:sp>
      <p:sp>
        <p:nvSpPr>
          <p:cNvPr id="3" name="Shape 1"/>
          <p:cNvSpPr/>
          <p:nvPr/>
        </p:nvSpPr>
        <p:spPr>
          <a:xfrm>
            <a:off x="9637776" y="722376"/>
            <a:ext cx="201168" cy="201168"/>
          </a:xfrm>
          <a:prstGeom prst="star5">
            <a:avLst/>
          </a:prstGeom>
          <a:solidFill>
            <a:srgbClr val="D9A521"/>
          </a:solidFill>
          <a:ln/>
        </p:spPr>
      </p:sp>
      <p:sp>
        <p:nvSpPr>
          <p:cNvPr id="4" name="Shape 2"/>
          <p:cNvSpPr/>
          <p:nvPr/>
        </p:nvSpPr>
        <p:spPr>
          <a:xfrm>
            <a:off x="9496894" y="1248156"/>
            <a:ext cx="201168" cy="201168"/>
          </a:xfrm>
          <a:prstGeom prst="star5">
            <a:avLst/>
          </a:prstGeom>
          <a:solidFill>
            <a:srgbClr val="D9A521"/>
          </a:solidFill>
          <a:ln/>
        </p:spPr>
      </p:sp>
      <p:sp>
        <p:nvSpPr>
          <p:cNvPr id="5" name="Shape 3"/>
          <p:cNvSpPr/>
          <p:nvPr/>
        </p:nvSpPr>
        <p:spPr>
          <a:xfrm>
            <a:off x="9111996" y="1633054"/>
            <a:ext cx="201168" cy="201168"/>
          </a:xfrm>
          <a:prstGeom prst="star5">
            <a:avLst/>
          </a:prstGeom>
          <a:solidFill>
            <a:srgbClr val="D9A521"/>
          </a:solidFill>
          <a:ln/>
        </p:spPr>
      </p:sp>
      <p:sp>
        <p:nvSpPr>
          <p:cNvPr id="6" name="Shape 4"/>
          <p:cNvSpPr/>
          <p:nvPr/>
        </p:nvSpPr>
        <p:spPr>
          <a:xfrm>
            <a:off x="8586216" y="1773936"/>
            <a:ext cx="201168" cy="201168"/>
          </a:xfrm>
          <a:prstGeom prst="star5">
            <a:avLst/>
          </a:prstGeom>
          <a:solidFill>
            <a:srgbClr val="D9A521"/>
          </a:solidFill>
          <a:ln/>
        </p:spPr>
      </p:sp>
      <p:sp>
        <p:nvSpPr>
          <p:cNvPr id="7" name="Shape 5"/>
          <p:cNvSpPr/>
          <p:nvPr/>
        </p:nvSpPr>
        <p:spPr>
          <a:xfrm>
            <a:off x="8060436" y="1633054"/>
            <a:ext cx="201168" cy="201168"/>
          </a:xfrm>
          <a:prstGeom prst="star5">
            <a:avLst/>
          </a:prstGeom>
          <a:solidFill>
            <a:srgbClr val="D9A521"/>
          </a:solidFill>
          <a:ln/>
        </p:spPr>
      </p:sp>
      <p:sp>
        <p:nvSpPr>
          <p:cNvPr id="8" name="Shape 6"/>
          <p:cNvSpPr/>
          <p:nvPr/>
        </p:nvSpPr>
        <p:spPr>
          <a:xfrm>
            <a:off x="7675538" y="1248156"/>
            <a:ext cx="201168" cy="201168"/>
          </a:xfrm>
          <a:prstGeom prst="star5">
            <a:avLst/>
          </a:prstGeom>
          <a:solidFill>
            <a:srgbClr val="D9A521"/>
          </a:solidFill>
          <a:ln/>
        </p:spPr>
      </p:sp>
      <p:sp>
        <p:nvSpPr>
          <p:cNvPr id="9" name="Shape 7"/>
          <p:cNvSpPr/>
          <p:nvPr/>
        </p:nvSpPr>
        <p:spPr>
          <a:xfrm>
            <a:off x="7534656" y="722376"/>
            <a:ext cx="201168" cy="201168"/>
          </a:xfrm>
          <a:prstGeom prst="star5">
            <a:avLst/>
          </a:prstGeom>
          <a:solidFill>
            <a:srgbClr val="D9A521"/>
          </a:solidFill>
          <a:ln/>
        </p:spPr>
      </p:sp>
      <p:sp>
        <p:nvSpPr>
          <p:cNvPr id="10" name="Shape 8"/>
          <p:cNvSpPr/>
          <p:nvPr/>
        </p:nvSpPr>
        <p:spPr>
          <a:xfrm>
            <a:off x="7675538" y="196596"/>
            <a:ext cx="201168" cy="201168"/>
          </a:xfrm>
          <a:prstGeom prst="star5">
            <a:avLst/>
          </a:prstGeom>
          <a:solidFill>
            <a:srgbClr val="D9A521"/>
          </a:solidFill>
          <a:ln/>
        </p:spPr>
      </p:sp>
      <p:sp>
        <p:nvSpPr>
          <p:cNvPr id="11" name="Shape 9"/>
          <p:cNvSpPr/>
          <p:nvPr/>
        </p:nvSpPr>
        <p:spPr>
          <a:xfrm>
            <a:off x="8060436" y="-188302"/>
            <a:ext cx="201168" cy="201168"/>
          </a:xfrm>
          <a:prstGeom prst="star5">
            <a:avLst/>
          </a:prstGeom>
          <a:solidFill>
            <a:srgbClr val="D9A521"/>
          </a:solidFill>
          <a:ln/>
        </p:spPr>
      </p:sp>
      <p:sp>
        <p:nvSpPr>
          <p:cNvPr id="12" name="Shape 10"/>
          <p:cNvSpPr/>
          <p:nvPr/>
        </p:nvSpPr>
        <p:spPr>
          <a:xfrm>
            <a:off x="8586216" y="-329184"/>
            <a:ext cx="201168" cy="201168"/>
          </a:xfrm>
          <a:prstGeom prst="star5">
            <a:avLst/>
          </a:prstGeom>
          <a:solidFill>
            <a:srgbClr val="D9A521"/>
          </a:solidFill>
          <a:ln/>
        </p:spPr>
      </p:sp>
      <p:sp>
        <p:nvSpPr>
          <p:cNvPr id="13" name="Shape 11"/>
          <p:cNvSpPr/>
          <p:nvPr/>
        </p:nvSpPr>
        <p:spPr>
          <a:xfrm>
            <a:off x="9111996" y="-188302"/>
            <a:ext cx="201168" cy="201168"/>
          </a:xfrm>
          <a:prstGeom prst="star5">
            <a:avLst/>
          </a:prstGeom>
          <a:solidFill>
            <a:srgbClr val="D9A521"/>
          </a:solidFill>
          <a:ln/>
        </p:spPr>
      </p:sp>
      <p:sp>
        <p:nvSpPr>
          <p:cNvPr id="14" name="Shape 12"/>
          <p:cNvSpPr/>
          <p:nvPr/>
        </p:nvSpPr>
        <p:spPr>
          <a:xfrm>
            <a:off x="9496894" y="196596"/>
            <a:ext cx="201168" cy="201168"/>
          </a:xfrm>
          <a:prstGeom prst="star5">
            <a:avLst/>
          </a:prstGeom>
          <a:solidFill>
            <a:srgbClr val="D9A521"/>
          </a:solidFill>
          <a:ln/>
        </p:spPr>
      </p:sp>
      <p:sp>
        <p:nvSpPr>
          <p:cNvPr id="15" name="Text 13"/>
          <p:cNvSpPr txBox="1"/>
          <p:nvPr/>
        </p:nvSpPr>
        <p:spPr>
          <a:xfrm>
            <a:off x="548640" y="1234440"/>
            <a:ext cx="64008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spc="200" kern="0" dirty="0">
                <a:solidFill>
                  <a:srgbClr val="D9A52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AVRUPA PARLAMENTOSU</a:t>
            </a:r>
            <a:endParaRPr lang="en-US" sz="1300" dirty="0"/>
          </a:p>
        </p:txBody>
      </p:sp>
      <p:sp>
        <p:nvSpPr>
          <p:cNvPr id="16" name="Text 14"/>
          <p:cNvSpPr txBox="1"/>
          <p:nvPr/>
        </p:nvSpPr>
        <p:spPr>
          <a:xfrm>
            <a:off x="548640" y="1600200"/>
            <a:ext cx="6949440" cy="13716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38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Avrupa Parlamentosu'nda Siyasi Gruplar</a:t>
            </a:r>
            <a:endParaRPr lang="en-US" sz="3800" dirty="0"/>
          </a:p>
        </p:txBody>
      </p:sp>
      <p:sp>
        <p:nvSpPr>
          <p:cNvPr id="17" name="Text 15"/>
          <p:cNvSpPr txBox="1"/>
          <p:nvPr/>
        </p:nvSpPr>
        <p:spPr>
          <a:xfrm>
            <a:off x="548640" y="3017520"/>
            <a:ext cx="694944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dirty="0">
                <a:solidFill>
                  <a:srgbClr val="C9D3E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2024–2029 dönemi (10. Parlamento)</a:t>
            </a:r>
            <a:endParaRPr lang="en-US" sz="1800" dirty="0"/>
          </a:p>
        </p:txBody>
      </p:sp>
      <p:sp>
        <p:nvSpPr>
          <p:cNvPr id="18" name="Text 16"/>
          <p:cNvSpPr txBox="1"/>
          <p:nvPr/>
        </p:nvSpPr>
        <p:spPr>
          <a:xfrm>
            <a:off x="548640" y="4434840"/>
            <a:ext cx="7772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9FAAC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SBK 3035 · AB ve Türkiye İlişkileri · ÇÖMÜ Siyasal Bilgiler Fakültesi</a:t>
            </a:r>
            <a:endParaRPr lang="en-US" sz="110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457200" y="274320"/>
            <a:ext cx="822960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600" b="1" dirty="0">
                <a:solidFill>
                  <a:srgbClr val="14234B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Siyasi gruplar nasıl oluşur?</a:t>
            </a:r>
            <a:endParaRPr lang="en-US" sz="2600" dirty="0"/>
          </a:p>
        </p:txBody>
      </p:sp>
      <p:sp>
        <p:nvSpPr>
          <p:cNvPr id="3" name="Text 1"/>
          <p:cNvSpPr txBox="1"/>
          <p:nvPr/>
        </p:nvSpPr>
        <p:spPr>
          <a:xfrm>
            <a:off x="457200" y="1143000"/>
            <a:ext cx="5257800" cy="34747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203200" indent="-203200">
              <a:spcAft>
                <a:spcPts val="700"/>
              </a:spcAft>
              <a:buSzPct val="100000"/>
              <a:buChar char="•"/>
            </a:pPr>
            <a:r>
              <a:rPr lang="en-US" sz="1600" b="1" dirty="0">
                <a:solidFill>
                  <a:srgbClr val="14234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İdeolojik örgütlenme: </a:t>
            </a:r>
            <a:pPr indent="0" marL="0">
              <a:buNone/>
            </a:pPr>
            <a:r>
              <a:rPr lang="en-US" sz="1600" dirty="0">
                <a:solidFill>
                  <a:srgbClr val="1E24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Milletvekilleri ülkelerine göre değil, siyasi gruplara göre oturur.</a:t>
            </a:r>
            <a:endParaRPr lang="en-US" sz="1600" dirty="0"/>
          </a:p>
          <a:p>
            <a:pPr marL="203200" indent="-203200">
              <a:spcAft>
                <a:spcPts val="700"/>
              </a:spcAft>
              <a:buSzPct val="100000"/>
              <a:buChar char="•"/>
            </a:pPr>
            <a:r>
              <a:rPr lang="en-US" sz="1600" b="1" dirty="0">
                <a:solidFill>
                  <a:srgbClr val="14234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Grup kurma eşiği: </a:t>
            </a:r>
            <a:pPr indent="0" marL="0">
              <a:buNone/>
            </a:pPr>
            <a:r>
              <a:rPr lang="en-US" sz="1600" dirty="0">
                <a:solidFill>
                  <a:srgbClr val="1E24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En az 23 milletvekili, en az 7 üye devletten (AP İçtüzüğü).</a:t>
            </a:r>
            <a:endParaRPr lang="en-US" sz="1600" dirty="0"/>
          </a:p>
          <a:p>
            <a:pPr marL="203200" indent="-203200">
              <a:spcAft>
                <a:spcPts val="700"/>
              </a:spcAft>
              <a:buSzPct val="100000"/>
              <a:buChar char="•"/>
            </a:pPr>
            <a:r>
              <a:rPr lang="en-US" sz="1600" b="1" dirty="0">
                <a:solidFill>
                  <a:srgbClr val="14234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Neden önemli: </a:t>
            </a:r>
            <a:pPr indent="0" marL="0">
              <a:buNone/>
            </a:pPr>
            <a:r>
              <a:rPr lang="en-US" sz="1600" dirty="0">
                <a:solidFill>
                  <a:srgbClr val="1E24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Konuşma süresi, komite başkanlıkları ve raportörlükler, mali kaynak ve personel gruplara göre dağıtılır.</a:t>
            </a:r>
            <a:endParaRPr lang="en-US" sz="1600" dirty="0"/>
          </a:p>
          <a:p>
            <a:pPr marL="203200" indent="-203200">
              <a:spcAft>
                <a:spcPts val="700"/>
              </a:spcAft>
              <a:buSzPct val="100000"/>
              <a:buChar char="•"/>
            </a:pPr>
            <a:r>
              <a:rPr lang="en-US" sz="1600" b="1" dirty="0">
                <a:solidFill>
                  <a:srgbClr val="14234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Bağımsızlar (NI): </a:t>
            </a:r>
            <a:pPr indent="0" marL="0">
              <a:buNone/>
            </a:pPr>
            <a:r>
              <a:rPr lang="en-US" sz="1600" dirty="0">
                <a:solidFill>
                  <a:srgbClr val="1E24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Hiçbir gruba katılmayan milletvekilleri; olanakları daha sınırlıdır.</a:t>
            </a:r>
            <a:endParaRPr lang="en-US" sz="1600" dirty="0"/>
          </a:p>
          <a:p>
            <a:pPr marL="203200" indent="-203200">
              <a:spcAft>
                <a:spcPts val="700"/>
              </a:spcAft>
              <a:buSzPct val="100000"/>
              <a:buChar char="•"/>
            </a:pPr>
            <a:r>
              <a:rPr lang="en-US" sz="1600" b="1" dirty="0">
                <a:solidFill>
                  <a:srgbClr val="14234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Gruplar ve Avrupa partileri: </a:t>
            </a:r>
            <a:pPr indent="0" marL="0">
              <a:buNone/>
            </a:pPr>
            <a:r>
              <a:rPr lang="en-US" sz="1600" dirty="0">
                <a:solidFill>
                  <a:srgbClr val="1E24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Gruplar Parlamento içindeki yapılardır; Avrupa siyasi partileri (EPP, PES vb.) ise ayrı örgütlerdir.</a:t>
            </a:r>
            <a:endParaRPr lang="en-US" sz="1600" dirty="0"/>
          </a:p>
        </p:txBody>
      </p:sp>
      <p:sp>
        <p:nvSpPr>
          <p:cNvPr id="4" name="Shape 2"/>
          <p:cNvSpPr/>
          <p:nvPr/>
        </p:nvSpPr>
        <p:spPr>
          <a:xfrm>
            <a:off x="5989320" y="1143000"/>
            <a:ext cx="2697480" cy="3383280"/>
          </a:xfrm>
          <a:prstGeom prst="roundRect">
            <a:avLst>
              <a:gd name="adj" fmla="val 4068"/>
            </a:avLst>
          </a:prstGeom>
          <a:solidFill>
            <a:srgbClr val="EDF1F8"/>
          </a:solidFill>
          <a:ln/>
        </p:spPr>
      </p:sp>
      <p:sp>
        <p:nvSpPr>
          <p:cNvPr id="5" name="Text 3"/>
          <p:cNvSpPr txBox="1"/>
          <p:nvPr/>
        </p:nvSpPr>
        <p:spPr>
          <a:xfrm>
            <a:off x="6126480" y="1371600"/>
            <a:ext cx="2423160" cy="10058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3600" b="1" dirty="0">
                <a:solidFill>
                  <a:srgbClr val="14234B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23 / 7</a:t>
            </a:r>
            <a:endParaRPr lang="en-US" sz="3600" dirty="0"/>
          </a:p>
        </p:txBody>
      </p:sp>
      <p:sp>
        <p:nvSpPr>
          <p:cNvPr id="6" name="Text 4"/>
          <p:cNvSpPr txBox="1"/>
          <p:nvPr/>
        </p:nvSpPr>
        <p:spPr>
          <a:xfrm>
            <a:off x="6172200" y="2377440"/>
            <a:ext cx="233172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D9A52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grup kurma eşiği</a:t>
            </a:r>
            <a:endParaRPr lang="en-US" sz="1400" dirty="0"/>
          </a:p>
        </p:txBody>
      </p:sp>
      <p:sp>
        <p:nvSpPr>
          <p:cNvPr id="7" name="Text 5"/>
          <p:cNvSpPr txBox="1"/>
          <p:nvPr/>
        </p:nvSpPr>
        <p:spPr>
          <a:xfrm>
            <a:off x="6217920" y="3017520"/>
            <a:ext cx="2240280" cy="13716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1200" dirty="0">
                <a:solidFill>
                  <a:srgbClr val="5B647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en az 23 milletvekili, en az 7 üye devletten</a:t>
            </a:r>
            <a:endParaRPr lang="en-US" sz="12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8229600" y="4773168"/>
            <a:ext cx="457200" cy="256032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000">
                <a:solidFill>
                  <a:srgbClr val="5B6475"/>
                </a:solidFill>
                <a:latin typeface="Calibri"/>
                <a:ea typeface="Calibri"/>
                <a:cs typeface="Calibri"/>
              </a:defRPr>
            </a:lvl1pPr>
          </a:lstStyle>
          <a:p>
            <a:pPr algn="r"/>
            <a:fld id="{F7021451-1387-4CA6-816F-3879F97B5CBC}" type="slidenum">
              <a:rPr b="0" lang="en-US"/>
              <a:t>2</a:t>
            </a:fld>
            <a:endParaRPr lang="en-US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457200" y="274320"/>
            <a:ext cx="822960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600" b="1" dirty="0">
                <a:solidFill>
                  <a:srgbClr val="14234B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Sandalye dağılımı (kurucu oturum, Temmuz 2024)</a:t>
            </a:r>
            <a:endParaRPr lang="en-US" sz="2600" dirty="0"/>
          </a:p>
        </p:txBody>
      </p:sp>
      <p:graphicFrame>
        <p:nvGraphicFramePr>
          <p:cNvPr id="3" name="Chart 0" descr=""/>
          <p:cNvGraphicFramePr/>
          <p:nvPr/>
        </p:nvGraphicFramePr>
        <p:xfrm>
          <a:off x="365760" y="1051560"/>
          <a:ext cx="5486400" cy="3611880"/>
        </p:xfrm>
        <a:graphic xmlns:a="http://schemas.openxmlformats.org/drawingml/2006/main">
          <a:graphicData uri="http://schemas.openxmlformats.org/drawingml/2006/chart">
            <c:chart xmlns:c="http://schemas.openxmlformats.org/drawingml/2006/chart" r:id="rId1"/>
          </a:graphicData>
        </a:graphic>
      </p:graphicFrame>
      <p:sp>
        <p:nvSpPr>
          <p:cNvPr id="4" name="Shape 1"/>
          <p:cNvSpPr/>
          <p:nvPr/>
        </p:nvSpPr>
        <p:spPr>
          <a:xfrm>
            <a:off x="6080760" y="1143000"/>
            <a:ext cx="2606040" cy="3383280"/>
          </a:xfrm>
          <a:prstGeom prst="roundRect">
            <a:avLst>
              <a:gd name="adj" fmla="val 4211"/>
            </a:avLst>
          </a:prstGeom>
          <a:solidFill>
            <a:srgbClr val="EDF1F8"/>
          </a:solidFill>
          <a:ln/>
        </p:spPr>
      </p:sp>
      <p:sp>
        <p:nvSpPr>
          <p:cNvPr id="5" name="Text 2"/>
          <p:cNvSpPr txBox="1"/>
          <p:nvPr/>
        </p:nvSpPr>
        <p:spPr>
          <a:xfrm>
            <a:off x="6263640" y="1325880"/>
            <a:ext cx="224028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D9A52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Toplam 720 sandalye</a:t>
            </a:r>
            <a:endParaRPr lang="en-US" sz="1400" dirty="0"/>
          </a:p>
        </p:txBody>
      </p:sp>
      <p:sp>
        <p:nvSpPr>
          <p:cNvPr id="6" name="Text 3"/>
          <p:cNvSpPr txBox="1"/>
          <p:nvPr/>
        </p:nvSpPr>
        <p:spPr>
          <a:xfrm>
            <a:off x="6263640" y="1783080"/>
            <a:ext cx="2240280" cy="26060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400" dirty="0">
                <a:solidFill>
                  <a:srgbClr val="1E24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Salt çoğunluk: 361</a:t>
            </a:r>
            <a:endParaRPr lang="en-US" sz="1400" dirty="0"/>
          </a:p>
          <a:p>
            <a:pPr indent="0" marL="0">
              <a:buNone/>
            </a:pPr>
            <a:endParaRPr lang="en-US" sz="1400" dirty="0"/>
          </a:p>
          <a:p>
            <a:pPr indent="0" marL="0">
              <a:buNone/>
            </a:pPr>
            <a:r>
              <a:rPr lang="en-US" sz="1400" dirty="0">
                <a:solidFill>
                  <a:srgbClr val="1E24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Sayılar dönem içinde milletvekili geçişleri ve boşalmalarla birkaç sandalye değişebilir.</a:t>
            </a:r>
            <a:endParaRPr lang="en-US" sz="1400" dirty="0"/>
          </a:p>
        </p:txBody>
      </p:sp>
      <p:sp>
        <p:nvSpPr>
          <p:cNvPr id="7" name="Text 4"/>
          <p:cNvSpPr txBox="1"/>
          <p:nvPr/>
        </p:nvSpPr>
        <p:spPr>
          <a:xfrm>
            <a:off x="457200" y="4526280"/>
            <a:ext cx="54864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i="1" dirty="0">
                <a:solidFill>
                  <a:srgbClr val="5B647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Kaynak: Avrupa Parlamentosu seçim sonuçları sitesi, 23.07.2024</a:t>
            </a:r>
            <a:endParaRPr lang="en-US" sz="10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8229600" y="4773168"/>
            <a:ext cx="457200" cy="256032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000">
                <a:solidFill>
                  <a:srgbClr val="5B6475"/>
                </a:solidFill>
                <a:latin typeface="Calibri"/>
                <a:ea typeface="Calibri"/>
                <a:cs typeface="Calibri"/>
              </a:defRPr>
            </a:lvl1pPr>
          </a:lstStyle>
          <a:p>
            <a:pPr algn="r"/>
            <a:fld id="{F7021451-1387-4CA6-816F-3879F97B5CBC}" type="slidenum">
              <a:rPr b="0" lang="en-US"/>
              <a:t>3</a:t>
            </a:fld>
            <a:endParaRPr lang="en-US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457200" y="274320"/>
            <a:ext cx="822960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600" b="1" dirty="0">
                <a:solidFill>
                  <a:srgbClr val="14234B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Merkezdeki büyük gruplar</a:t>
            </a:r>
            <a:endParaRPr lang="en-US" sz="2600" dirty="0"/>
          </a:p>
        </p:txBody>
      </p:sp>
      <p:sp>
        <p:nvSpPr>
          <p:cNvPr id="3" name="Shape 1"/>
          <p:cNvSpPr/>
          <p:nvPr/>
        </p:nvSpPr>
        <p:spPr>
          <a:xfrm>
            <a:off x="457200" y="1097280"/>
            <a:ext cx="4023360" cy="1668780"/>
          </a:xfrm>
          <a:prstGeom prst="roundRect">
            <a:avLst>
              <a:gd name="adj" fmla="val 5479"/>
            </a:avLst>
          </a:prstGeom>
          <a:solidFill>
            <a:srgbClr val="EDF1F8"/>
          </a:solidFill>
          <a:ln w="9525">
            <a:solidFill>
              <a:srgbClr val="C9D2E3"/>
            </a:solidFill>
            <a:prstDash val="solid"/>
          </a:ln>
        </p:spPr>
      </p:sp>
      <p:sp>
        <p:nvSpPr>
          <p:cNvPr id="4" name="Shape 2"/>
          <p:cNvSpPr/>
          <p:nvPr/>
        </p:nvSpPr>
        <p:spPr>
          <a:xfrm>
            <a:off x="621792" y="1243584"/>
            <a:ext cx="384048" cy="384048"/>
          </a:xfrm>
          <a:prstGeom prst="ellipse">
            <a:avLst/>
          </a:prstGeom>
          <a:solidFill>
            <a:srgbClr val="14234B"/>
          </a:solidFill>
          <a:ln/>
        </p:spPr>
      </p:sp>
      <p:sp>
        <p:nvSpPr>
          <p:cNvPr id="5" name="Text 3"/>
          <p:cNvSpPr txBox="1"/>
          <p:nvPr/>
        </p:nvSpPr>
        <p:spPr>
          <a:xfrm>
            <a:off x="621792" y="1243584"/>
            <a:ext cx="384048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D9A52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EPP</a:t>
            </a:r>
            <a:endParaRPr lang="en-US" sz="1200" dirty="0"/>
          </a:p>
        </p:txBody>
      </p:sp>
      <p:sp>
        <p:nvSpPr>
          <p:cNvPr id="6" name="Text 4"/>
          <p:cNvSpPr txBox="1"/>
          <p:nvPr/>
        </p:nvSpPr>
        <p:spPr>
          <a:xfrm>
            <a:off x="1115568" y="1207008"/>
            <a:ext cx="324612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14234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Avrupa Halk Partisi (188)</a:t>
            </a:r>
            <a:endParaRPr lang="en-US" sz="1500" dirty="0"/>
          </a:p>
        </p:txBody>
      </p:sp>
      <p:sp>
        <p:nvSpPr>
          <p:cNvPr id="7" name="Text 5"/>
          <p:cNvSpPr txBox="1"/>
          <p:nvPr/>
        </p:nvSpPr>
        <p:spPr>
          <a:xfrm>
            <a:off x="640080" y="1719072"/>
            <a:ext cx="3657600" cy="95554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400" dirty="0">
                <a:solidFill>
                  <a:srgbClr val="1E24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Merkez sağ, Hristiyan demokrat. CDU/CSU (Almanya), PP (İspanya), Forza Italia, Sivil Platform (Polonya).</a:t>
            </a:r>
            <a:endParaRPr lang="en-US" sz="1400" dirty="0"/>
          </a:p>
        </p:txBody>
      </p:sp>
      <p:sp>
        <p:nvSpPr>
          <p:cNvPr id="8" name="Shape 6"/>
          <p:cNvSpPr/>
          <p:nvPr/>
        </p:nvSpPr>
        <p:spPr>
          <a:xfrm>
            <a:off x="4663440" y="1097280"/>
            <a:ext cx="4023360" cy="1668780"/>
          </a:xfrm>
          <a:prstGeom prst="roundRect">
            <a:avLst>
              <a:gd name="adj" fmla="val 5479"/>
            </a:avLst>
          </a:prstGeom>
          <a:solidFill>
            <a:srgbClr val="F7F9FC"/>
          </a:solidFill>
          <a:ln w="9525">
            <a:solidFill>
              <a:srgbClr val="C9D2E3"/>
            </a:solidFill>
            <a:prstDash val="solid"/>
          </a:ln>
        </p:spPr>
      </p:sp>
      <p:sp>
        <p:nvSpPr>
          <p:cNvPr id="9" name="Shape 7"/>
          <p:cNvSpPr/>
          <p:nvPr/>
        </p:nvSpPr>
        <p:spPr>
          <a:xfrm>
            <a:off x="4828032" y="1243584"/>
            <a:ext cx="384048" cy="384048"/>
          </a:xfrm>
          <a:prstGeom prst="ellipse">
            <a:avLst/>
          </a:prstGeom>
          <a:solidFill>
            <a:srgbClr val="14234B"/>
          </a:solidFill>
          <a:ln/>
        </p:spPr>
      </p:sp>
      <p:sp>
        <p:nvSpPr>
          <p:cNvPr id="10" name="Text 8"/>
          <p:cNvSpPr txBox="1"/>
          <p:nvPr/>
        </p:nvSpPr>
        <p:spPr>
          <a:xfrm>
            <a:off x="4828032" y="1243584"/>
            <a:ext cx="384048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D9A52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S&amp;D</a:t>
            </a:r>
            <a:endParaRPr lang="en-US" sz="1200" dirty="0"/>
          </a:p>
        </p:txBody>
      </p:sp>
      <p:sp>
        <p:nvSpPr>
          <p:cNvPr id="11" name="Text 9"/>
          <p:cNvSpPr txBox="1"/>
          <p:nvPr/>
        </p:nvSpPr>
        <p:spPr>
          <a:xfrm>
            <a:off x="5321808" y="1207008"/>
            <a:ext cx="324612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14234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Sosyalistler ve Demokratlar (136)</a:t>
            </a:r>
            <a:endParaRPr lang="en-US" sz="1500" dirty="0"/>
          </a:p>
        </p:txBody>
      </p:sp>
      <p:sp>
        <p:nvSpPr>
          <p:cNvPr id="12" name="Text 10"/>
          <p:cNvSpPr txBox="1"/>
          <p:nvPr/>
        </p:nvSpPr>
        <p:spPr>
          <a:xfrm>
            <a:off x="4846320" y="1719072"/>
            <a:ext cx="3657600" cy="95554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400" dirty="0">
                <a:solidFill>
                  <a:srgbClr val="1E24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Merkez sol, sosyal demokrat. SPD (Almanya), PSOE (İspanya), PD (İtalya), PS (Fransa).</a:t>
            </a:r>
            <a:endParaRPr lang="en-US" sz="1400" dirty="0"/>
          </a:p>
        </p:txBody>
      </p:sp>
      <p:sp>
        <p:nvSpPr>
          <p:cNvPr id="13" name="Shape 11"/>
          <p:cNvSpPr/>
          <p:nvPr/>
        </p:nvSpPr>
        <p:spPr>
          <a:xfrm>
            <a:off x="457200" y="2948940"/>
            <a:ext cx="4023360" cy="1668780"/>
          </a:xfrm>
          <a:prstGeom prst="roundRect">
            <a:avLst>
              <a:gd name="adj" fmla="val 5479"/>
            </a:avLst>
          </a:prstGeom>
          <a:solidFill>
            <a:srgbClr val="EDF1F8"/>
          </a:solidFill>
          <a:ln w="9525">
            <a:solidFill>
              <a:srgbClr val="C9D2E3"/>
            </a:solidFill>
            <a:prstDash val="solid"/>
          </a:ln>
        </p:spPr>
      </p:sp>
      <p:sp>
        <p:nvSpPr>
          <p:cNvPr id="14" name="Shape 12"/>
          <p:cNvSpPr/>
          <p:nvPr/>
        </p:nvSpPr>
        <p:spPr>
          <a:xfrm>
            <a:off x="621792" y="3095244"/>
            <a:ext cx="384048" cy="384048"/>
          </a:xfrm>
          <a:prstGeom prst="ellipse">
            <a:avLst/>
          </a:prstGeom>
          <a:solidFill>
            <a:srgbClr val="14234B"/>
          </a:solidFill>
          <a:ln/>
        </p:spPr>
      </p:sp>
      <p:sp>
        <p:nvSpPr>
          <p:cNvPr id="15" name="Text 13"/>
          <p:cNvSpPr txBox="1"/>
          <p:nvPr/>
        </p:nvSpPr>
        <p:spPr>
          <a:xfrm>
            <a:off x="621792" y="3095244"/>
            <a:ext cx="384048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D9A52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</a:t>
            </a:r>
            <a:endParaRPr lang="en-US" sz="1200" dirty="0"/>
          </a:p>
        </p:txBody>
      </p:sp>
      <p:sp>
        <p:nvSpPr>
          <p:cNvPr id="16" name="Text 14"/>
          <p:cNvSpPr txBox="1"/>
          <p:nvPr/>
        </p:nvSpPr>
        <p:spPr>
          <a:xfrm>
            <a:off x="1115568" y="3058668"/>
            <a:ext cx="324612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14234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Renew Europe (77)</a:t>
            </a:r>
            <a:endParaRPr lang="en-US" sz="1500" dirty="0"/>
          </a:p>
        </p:txBody>
      </p:sp>
      <p:sp>
        <p:nvSpPr>
          <p:cNvPr id="17" name="Text 15"/>
          <p:cNvSpPr txBox="1"/>
          <p:nvPr/>
        </p:nvSpPr>
        <p:spPr>
          <a:xfrm>
            <a:off x="640080" y="3570732"/>
            <a:ext cx="3657600" cy="95554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400" dirty="0">
                <a:solidFill>
                  <a:srgbClr val="1E24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Liberal, merkez. Renaissance (Fransa), VVD (Hollanda), Fianna Fáil (İrlanda).</a:t>
            </a:r>
            <a:endParaRPr lang="en-US" sz="1400" dirty="0"/>
          </a:p>
        </p:txBody>
      </p:sp>
      <p:sp>
        <p:nvSpPr>
          <p:cNvPr id="18" name="Shape 16"/>
          <p:cNvSpPr/>
          <p:nvPr/>
        </p:nvSpPr>
        <p:spPr>
          <a:xfrm>
            <a:off x="4663440" y="2948940"/>
            <a:ext cx="4023360" cy="1668780"/>
          </a:xfrm>
          <a:prstGeom prst="roundRect">
            <a:avLst>
              <a:gd name="adj" fmla="val 5479"/>
            </a:avLst>
          </a:prstGeom>
          <a:solidFill>
            <a:srgbClr val="F7F9FC"/>
          </a:solidFill>
          <a:ln w="9525">
            <a:solidFill>
              <a:srgbClr val="C9D2E3"/>
            </a:solidFill>
            <a:prstDash val="solid"/>
          </a:ln>
        </p:spPr>
      </p:sp>
      <p:sp>
        <p:nvSpPr>
          <p:cNvPr id="19" name="Shape 17"/>
          <p:cNvSpPr/>
          <p:nvPr/>
        </p:nvSpPr>
        <p:spPr>
          <a:xfrm>
            <a:off x="4828032" y="3095244"/>
            <a:ext cx="384048" cy="384048"/>
          </a:xfrm>
          <a:prstGeom prst="ellipse">
            <a:avLst/>
          </a:prstGeom>
          <a:solidFill>
            <a:srgbClr val="14234B"/>
          </a:solidFill>
          <a:ln/>
        </p:spPr>
      </p:sp>
      <p:sp>
        <p:nvSpPr>
          <p:cNvPr id="20" name="Text 18"/>
          <p:cNvSpPr txBox="1"/>
          <p:nvPr/>
        </p:nvSpPr>
        <p:spPr>
          <a:xfrm>
            <a:off x="4828032" y="3095244"/>
            <a:ext cx="384048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D9A52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</a:t>
            </a:r>
            <a:endParaRPr lang="en-US" sz="1200" dirty="0"/>
          </a:p>
        </p:txBody>
      </p:sp>
      <p:sp>
        <p:nvSpPr>
          <p:cNvPr id="21" name="Text 19"/>
          <p:cNvSpPr txBox="1"/>
          <p:nvPr/>
        </p:nvSpPr>
        <p:spPr>
          <a:xfrm>
            <a:off x="5321808" y="3058668"/>
            <a:ext cx="324612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14234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Yeşiller / Avrupa Serbest İttifakı (53)</a:t>
            </a:r>
            <a:endParaRPr lang="en-US" sz="1500" dirty="0"/>
          </a:p>
        </p:txBody>
      </p:sp>
      <p:sp>
        <p:nvSpPr>
          <p:cNvPr id="22" name="Text 20"/>
          <p:cNvSpPr txBox="1"/>
          <p:nvPr/>
        </p:nvSpPr>
        <p:spPr>
          <a:xfrm>
            <a:off x="4846320" y="3570732"/>
            <a:ext cx="3657600" cy="95554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400" dirty="0">
                <a:solidFill>
                  <a:srgbClr val="1E24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Yeşil siyaset ve bölgeselci partiler. Die Grünen (Almanya), GroenLinks (Hollanda), ERC (Katalonya).</a:t>
            </a:r>
            <a:endParaRPr lang="en-US" sz="14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8229600" y="4773168"/>
            <a:ext cx="457200" cy="256032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000">
                <a:solidFill>
                  <a:srgbClr val="5B6475"/>
                </a:solidFill>
                <a:latin typeface="Calibri"/>
                <a:ea typeface="Calibri"/>
                <a:cs typeface="Calibri"/>
              </a:defRPr>
            </a:lvl1pPr>
          </a:lstStyle>
          <a:p>
            <a:pPr algn="r"/>
            <a:fld id="{F7021451-1387-4CA6-816F-3879F97B5CBC}" type="slidenum">
              <a:rPr b="0" lang="en-US"/>
              <a:t>4</a:t>
            </a:fld>
            <a:endParaRPr lang="en-US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457200" y="274320"/>
            <a:ext cx="822960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600" b="1" dirty="0">
                <a:solidFill>
                  <a:srgbClr val="14234B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Sağ ve sol kanattaki gruplar</a:t>
            </a:r>
            <a:endParaRPr lang="en-US" sz="2600" dirty="0"/>
          </a:p>
        </p:txBody>
      </p:sp>
      <p:sp>
        <p:nvSpPr>
          <p:cNvPr id="3" name="Shape 1"/>
          <p:cNvSpPr/>
          <p:nvPr/>
        </p:nvSpPr>
        <p:spPr>
          <a:xfrm>
            <a:off x="457200" y="1097280"/>
            <a:ext cx="4023360" cy="1668780"/>
          </a:xfrm>
          <a:prstGeom prst="roundRect">
            <a:avLst>
              <a:gd name="adj" fmla="val 5479"/>
            </a:avLst>
          </a:prstGeom>
          <a:solidFill>
            <a:srgbClr val="EDF1F8"/>
          </a:solidFill>
          <a:ln w="9525">
            <a:solidFill>
              <a:srgbClr val="C9D2E3"/>
            </a:solidFill>
            <a:prstDash val="solid"/>
          </a:ln>
        </p:spPr>
      </p:sp>
      <p:sp>
        <p:nvSpPr>
          <p:cNvPr id="4" name="Shape 2"/>
          <p:cNvSpPr/>
          <p:nvPr/>
        </p:nvSpPr>
        <p:spPr>
          <a:xfrm>
            <a:off x="621792" y="1243584"/>
            <a:ext cx="384048" cy="384048"/>
          </a:xfrm>
          <a:prstGeom prst="ellipse">
            <a:avLst/>
          </a:prstGeom>
          <a:solidFill>
            <a:srgbClr val="14234B"/>
          </a:solidFill>
          <a:ln/>
        </p:spPr>
      </p:sp>
      <p:sp>
        <p:nvSpPr>
          <p:cNvPr id="5" name="Text 3"/>
          <p:cNvSpPr txBox="1"/>
          <p:nvPr/>
        </p:nvSpPr>
        <p:spPr>
          <a:xfrm>
            <a:off x="621792" y="1243584"/>
            <a:ext cx="384048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D9A52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PfE</a:t>
            </a:r>
            <a:endParaRPr lang="en-US" sz="1200" dirty="0"/>
          </a:p>
        </p:txBody>
      </p:sp>
      <p:sp>
        <p:nvSpPr>
          <p:cNvPr id="6" name="Text 4"/>
          <p:cNvSpPr txBox="1"/>
          <p:nvPr/>
        </p:nvSpPr>
        <p:spPr>
          <a:xfrm>
            <a:off x="1115568" y="1207008"/>
            <a:ext cx="324612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14234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Avrupa İçin Vatanseverler (84)</a:t>
            </a:r>
            <a:endParaRPr lang="en-US" sz="1500" dirty="0"/>
          </a:p>
        </p:txBody>
      </p:sp>
      <p:sp>
        <p:nvSpPr>
          <p:cNvPr id="7" name="Text 5"/>
          <p:cNvSpPr txBox="1"/>
          <p:nvPr/>
        </p:nvSpPr>
        <p:spPr>
          <a:xfrm>
            <a:off x="640080" y="1719072"/>
            <a:ext cx="3657600" cy="95554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300" dirty="0">
                <a:solidFill>
                  <a:srgbClr val="1E24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Temmuz 2024'te kuruldu; dağılan Kimlik ve Demokrasi grubunun yerini aldı. Sağ popülist, AB'ye eleştirel. RN (Fransa), Fidesz (Macaristan), Lega (İtalya), FPÖ (Avusturya), Vox (İspanya).</a:t>
            </a:r>
            <a:endParaRPr lang="en-US" sz="1300" dirty="0"/>
          </a:p>
        </p:txBody>
      </p:sp>
      <p:sp>
        <p:nvSpPr>
          <p:cNvPr id="8" name="Shape 6"/>
          <p:cNvSpPr/>
          <p:nvPr/>
        </p:nvSpPr>
        <p:spPr>
          <a:xfrm>
            <a:off x="4663440" y="1097280"/>
            <a:ext cx="4023360" cy="1668780"/>
          </a:xfrm>
          <a:prstGeom prst="roundRect">
            <a:avLst>
              <a:gd name="adj" fmla="val 5479"/>
            </a:avLst>
          </a:prstGeom>
          <a:solidFill>
            <a:srgbClr val="F7F9FC"/>
          </a:solidFill>
          <a:ln w="9525">
            <a:solidFill>
              <a:srgbClr val="C9D2E3"/>
            </a:solidFill>
            <a:prstDash val="solid"/>
          </a:ln>
        </p:spPr>
      </p:sp>
      <p:sp>
        <p:nvSpPr>
          <p:cNvPr id="9" name="Shape 7"/>
          <p:cNvSpPr/>
          <p:nvPr/>
        </p:nvSpPr>
        <p:spPr>
          <a:xfrm>
            <a:off x="4828032" y="1243584"/>
            <a:ext cx="384048" cy="384048"/>
          </a:xfrm>
          <a:prstGeom prst="ellipse">
            <a:avLst/>
          </a:prstGeom>
          <a:solidFill>
            <a:srgbClr val="14234B"/>
          </a:solidFill>
          <a:ln/>
        </p:spPr>
      </p:sp>
      <p:sp>
        <p:nvSpPr>
          <p:cNvPr id="10" name="Text 8"/>
          <p:cNvSpPr txBox="1"/>
          <p:nvPr/>
        </p:nvSpPr>
        <p:spPr>
          <a:xfrm>
            <a:off x="4828032" y="1243584"/>
            <a:ext cx="384048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D9A52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ECR</a:t>
            </a:r>
            <a:endParaRPr lang="en-US" sz="1200" dirty="0"/>
          </a:p>
        </p:txBody>
      </p:sp>
      <p:sp>
        <p:nvSpPr>
          <p:cNvPr id="11" name="Text 9"/>
          <p:cNvSpPr txBox="1"/>
          <p:nvPr/>
        </p:nvSpPr>
        <p:spPr>
          <a:xfrm>
            <a:off x="5321808" y="1207008"/>
            <a:ext cx="324612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14234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Avrupa Muhafazakârları ve Reformcular (78)</a:t>
            </a:r>
            <a:endParaRPr lang="en-US" sz="1500" dirty="0"/>
          </a:p>
        </p:txBody>
      </p:sp>
      <p:sp>
        <p:nvSpPr>
          <p:cNvPr id="12" name="Text 10"/>
          <p:cNvSpPr txBox="1"/>
          <p:nvPr/>
        </p:nvSpPr>
        <p:spPr>
          <a:xfrm>
            <a:off x="4846320" y="1719072"/>
            <a:ext cx="3657600" cy="95554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300" dirty="0">
                <a:solidFill>
                  <a:srgbClr val="1E24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Sağ, muhafazakâr, egemenlikçi. Fratelli d'Italia (İtalya), Hukuk ve Adalet – PiS (Polonya).</a:t>
            </a:r>
            <a:endParaRPr lang="en-US" sz="1300" dirty="0"/>
          </a:p>
        </p:txBody>
      </p:sp>
      <p:sp>
        <p:nvSpPr>
          <p:cNvPr id="13" name="Shape 11"/>
          <p:cNvSpPr/>
          <p:nvPr/>
        </p:nvSpPr>
        <p:spPr>
          <a:xfrm>
            <a:off x="457200" y="2948940"/>
            <a:ext cx="4023360" cy="1668780"/>
          </a:xfrm>
          <a:prstGeom prst="roundRect">
            <a:avLst>
              <a:gd name="adj" fmla="val 5479"/>
            </a:avLst>
          </a:prstGeom>
          <a:solidFill>
            <a:srgbClr val="EDF1F8"/>
          </a:solidFill>
          <a:ln w="9525">
            <a:solidFill>
              <a:srgbClr val="C9D2E3"/>
            </a:solidFill>
            <a:prstDash val="solid"/>
          </a:ln>
        </p:spPr>
      </p:sp>
      <p:sp>
        <p:nvSpPr>
          <p:cNvPr id="14" name="Shape 12"/>
          <p:cNvSpPr/>
          <p:nvPr/>
        </p:nvSpPr>
        <p:spPr>
          <a:xfrm>
            <a:off x="621792" y="3095244"/>
            <a:ext cx="384048" cy="384048"/>
          </a:xfrm>
          <a:prstGeom prst="ellipse">
            <a:avLst/>
          </a:prstGeom>
          <a:solidFill>
            <a:srgbClr val="14234B"/>
          </a:solidFill>
          <a:ln/>
        </p:spPr>
      </p:sp>
      <p:sp>
        <p:nvSpPr>
          <p:cNvPr id="15" name="Text 13"/>
          <p:cNvSpPr txBox="1"/>
          <p:nvPr/>
        </p:nvSpPr>
        <p:spPr>
          <a:xfrm>
            <a:off x="621792" y="3095244"/>
            <a:ext cx="384048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D9A52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ESN</a:t>
            </a:r>
            <a:endParaRPr lang="en-US" sz="1200" dirty="0"/>
          </a:p>
        </p:txBody>
      </p:sp>
      <p:sp>
        <p:nvSpPr>
          <p:cNvPr id="16" name="Text 14"/>
          <p:cNvSpPr txBox="1"/>
          <p:nvPr/>
        </p:nvSpPr>
        <p:spPr>
          <a:xfrm>
            <a:off x="1115568" y="3058668"/>
            <a:ext cx="324612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14234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Egemen Uluslar Avrupası (25)</a:t>
            </a:r>
            <a:endParaRPr lang="en-US" sz="1500" dirty="0"/>
          </a:p>
        </p:txBody>
      </p:sp>
      <p:sp>
        <p:nvSpPr>
          <p:cNvPr id="17" name="Text 15"/>
          <p:cNvSpPr txBox="1"/>
          <p:nvPr/>
        </p:nvSpPr>
        <p:spPr>
          <a:xfrm>
            <a:off x="640080" y="3570732"/>
            <a:ext cx="3657600" cy="95554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300" dirty="0">
                <a:solidFill>
                  <a:srgbClr val="1E24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Temmuz 2024'te kuruldu; aşırı sağ. Ağırlığını Almanya için Alternatif (AfD) oluşturur.</a:t>
            </a:r>
            <a:endParaRPr lang="en-US" sz="1300" dirty="0"/>
          </a:p>
        </p:txBody>
      </p:sp>
      <p:sp>
        <p:nvSpPr>
          <p:cNvPr id="18" name="Shape 16"/>
          <p:cNvSpPr/>
          <p:nvPr/>
        </p:nvSpPr>
        <p:spPr>
          <a:xfrm>
            <a:off x="4663440" y="2948940"/>
            <a:ext cx="4023360" cy="1668780"/>
          </a:xfrm>
          <a:prstGeom prst="roundRect">
            <a:avLst>
              <a:gd name="adj" fmla="val 5479"/>
            </a:avLst>
          </a:prstGeom>
          <a:solidFill>
            <a:srgbClr val="F7F9FC"/>
          </a:solidFill>
          <a:ln w="9525">
            <a:solidFill>
              <a:srgbClr val="C9D2E3"/>
            </a:solidFill>
            <a:prstDash val="solid"/>
          </a:ln>
        </p:spPr>
      </p:sp>
      <p:sp>
        <p:nvSpPr>
          <p:cNvPr id="19" name="Shape 17"/>
          <p:cNvSpPr/>
          <p:nvPr/>
        </p:nvSpPr>
        <p:spPr>
          <a:xfrm>
            <a:off x="4828032" y="3095244"/>
            <a:ext cx="384048" cy="384048"/>
          </a:xfrm>
          <a:prstGeom prst="ellipse">
            <a:avLst/>
          </a:prstGeom>
          <a:solidFill>
            <a:srgbClr val="14234B"/>
          </a:solidFill>
          <a:ln/>
        </p:spPr>
      </p:sp>
      <p:sp>
        <p:nvSpPr>
          <p:cNvPr id="20" name="Text 18"/>
          <p:cNvSpPr txBox="1"/>
          <p:nvPr/>
        </p:nvSpPr>
        <p:spPr>
          <a:xfrm>
            <a:off x="4828032" y="3095244"/>
            <a:ext cx="384048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D9A52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SOL</a:t>
            </a:r>
            <a:endParaRPr lang="en-US" sz="1200" dirty="0"/>
          </a:p>
        </p:txBody>
      </p:sp>
      <p:sp>
        <p:nvSpPr>
          <p:cNvPr id="21" name="Text 19"/>
          <p:cNvSpPr txBox="1"/>
          <p:nvPr/>
        </p:nvSpPr>
        <p:spPr>
          <a:xfrm>
            <a:off x="5321808" y="3058668"/>
            <a:ext cx="324612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14234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Sol Grup (46)</a:t>
            </a:r>
            <a:endParaRPr lang="en-US" sz="1500" dirty="0"/>
          </a:p>
        </p:txBody>
      </p:sp>
      <p:sp>
        <p:nvSpPr>
          <p:cNvPr id="22" name="Text 20"/>
          <p:cNvSpPr txBox="1"/>
          <p:nvPr/>
        </p:nvSpPr>
        <p:spPr>
          <a:xfrm>
            <a:off x="4846320" y="3570732"/>
            <a:ext cx="3657600" cy="95554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300" dirty="0">
                <a:solidFill>
                  <a:srgbClr val="1E24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Radikal sol. La France Insoumise (Fransa), Die Linke (Almanya), Sinn Féin (İrlanda), Syriza (Yunanistan).</a:t>
            </a:r>
            <a:endParaRPr lang="en-US" sz="13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8229600" y="4773168"/>
            <a:ext cx="457200" cy="256032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000">
                <a:solidFill>
                  <a:srgbClr val="5B6475"/>
                </a:solidFill>
                <a:latin typeface="Calibri"/>
                <a:ea typeface="Calibri"/>
                <a:cs typeface="Calibri"/>
              </a:defRPr>
            </a:lvl1pPr>
          </a:lstStyle>
          <a:p>
            <a:pPr algn="r"/>
            <a:fld id="{F7021451-1387-4CA6-816F-3879F97B5CBC}" type="slidenum">
              <a:rPr b="0" lang="en-US"/>
              <a:t>5</a:t>
            </a:fld>
            <a:endParaRPr lang="en-US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457200" y="274320"/>
            <a:ext cx="822960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600" b="1" dirty="0">
                <a:solidFill>
                  <a:srgbClr val="14234B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Koalisyon aritmetiği (kurucu oturum rakamlarıyla)</a:t>
            </a:r>
            <a:endParaRPr lang="en-US" sz="2600" dirty="0"/>
          </a:p>
        </p:txBody>
      </p:sp>
      <p:graphicFrame>
        <p:nvGraphicFramePr>
          <p:cNvPr id="7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457200" y="1097280"/>
          <a:ext cx="8229600" cy="914400"/>
        </p:xfrm>
        <a:graphic>
          <a:graphicData uri="http://schemas.openxmlformats.org/drawingml/2006/table">
            <a:tbl>
              <a:tblPr/>
              <a:tblGrid>
                <a:gridCol w="1828800"/>
                <a:gridCol w="3291840"/>
                <a:gridCol w="1188720"/>
                <a:gridCol w="1920240"/>
              </a:tblGrid>
              <a:tr h="475488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4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Olası çoğunluk</a:t>
                      </a:r>
                      <a:endParaRPr lang="en-US" sz="14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6200" marR="76200" marT="50800" marB="50800" anchor="ctr">
                    <a:lnL w="6350" cap="flat" cmpd="sng" algn="ctr">
                      <a:solidFill>
                        <a:srgbClr val="C9D2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9D2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9D2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9D2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4234B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4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Gruplar</a:t>
                      </a:r>
                      <a:endParaRPr lang="en-US" sz="14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6200" marR="76200" marT="50800" marB="50800" anchor="ctr">
                    <a:lnL w="6350" cap="flat" cmpd="sng" algn="ctr">
                      <a:solidFill>
                        <a:srgbClr val="C9D2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9D2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9D2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9D2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4234B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4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Sandalye</a:t>
                      </a:r>
                      <a:endParaRPr lang="en-US" sz="14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6200" marR="76200" marT="50800" marB="50800" anchor="ctr">
                    <a:lnL w="6350" cap="flat" cmpd="sng" algn="ctr">
                      <a:solidFill>
                        <a:srgbClr val="C9D2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9D2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9D2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9D2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4234B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4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Salt çoğunluk (361)?</a:t>
                      </a:r>
                      <a:endParaRPr lang="en-US" sz="14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6200" marR="76200" marT="50800" marB="50800" anchor="ctr">
                    <a:lnL w="6350" cap="flat" cmpd="sng" algn="ctr">
                      <a:solidFill>
                        <a:srgbClr val="C9D2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9D2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9D2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9D2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4234B"/>
                    </a:solidFill>
                  </a:tcPr>
                </a:tc>
              </a:tr>
              <a:tr h="475488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400" b="1" dirty="0">
                          <a:solidFill>
                            <a:srgbClr val="1E2433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Merkez koalisyonu</a:t>
                      </a:r>
                      <a:endParaRPr lang="en-US" sz="14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6200" marR="76200" marT="50800" marB="50800" anchor="ctr">
                    <a:lnL w="6350" cap="flat" cmpd="sng" algn="ctr">
                      <a:solidFill>
                        <a:srgbClr val="C9D2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9D2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9D2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9D2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DF1F8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400" dirty="0">
                          <a:solidFill>
                            <a:srgbClr val="1E2433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EPP + S&amp;D + Renew</a:t>
                      </a:r>
                      <a:endParaRPr lang="en-US" sz="14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6200" marR="76200" marT="50800" marB="50800" anchor="ctr">
                    <a:lnL w="6350" cap="flat" cmpd="sng" algn="ctr">
                      <a:solidFill>
                        <a:srgbClr val="C9D2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9D2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9D2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9D2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DF1F8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400" dirty="0">
                          <a:solidFill>
                            <a:srgbClr val="1E2433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401</a:t>
                      </a:r>
                      <a:endParaRPr lang="en-US" sz="14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6200" marR="76200" marT="50800" marB="50800" anchor="ctr">
                    <a:lnL w="6350" cap="flat" cmpd="sng" algn="ctr">
                      <a:solidFill>
                        <a:srgbClr val="C9D2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9D2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9D2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9D2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DF1F8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400" dirty="0">
                          <a:solidFill>
                            <a:srgbClr val="1E2433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Evet</a:t>
                      </a:r>
                      <a:endParaRPr lang="en-US" sz="14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6200" marR="76200" marT="50800" marB="50800" anchor="ctr">
                    <a:lnL w="6350" cap="flat" cmpd="sng" algn="ctr">
                      <a:solidFill>
                        <a:srgbClr val="C9D2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9D2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9D2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9D2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DF1F8"/>
                    </a:solidFill>
                  </a:tcPr>
                </a:tc>
              </a:tr>
              <a:tr h="475488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400" b="1" dirty="0">
                          <a:solidFill>
                            <a:srgbClr val="1E2433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Geniş merkez</a:t>
                      </a:r>
                      <a:endParaRPr lang="en-US" sz="14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6200" marR="76200" marT="50800" marB="50800" anchor="ctr">
                    <a:lnL w="6350" cap="flat" cmpd="sng" algn="ctr">
                      <a:solidFill>
                        <a:srgbClr val="C9D2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9D2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9D2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9D2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400" dirty="0">
                          <a:solidFill>
                            <a:srgbClr val="1E2433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EPP + S&amp;D + Renew + Yeşiller</a:t>
                      </a:r>
                      <a:endParaRPr lang="en-US" sz="14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6200" marR="76200" marT="50800" marB="50800" anchor="ctr">
                    <a:lnL w="6350" cap="flat" cmpd="sng" algn="ctr">
                      <a:solidFill>
                        <a:srgbClr val="C9D2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9D2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9D2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9D2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400" dirty="0">
                          <a:solidFill>
                            <a:srgbClr val="1E2433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454</a:t>
                      </a:r>
                      <a:endParaRPr lang="en-US" sz="14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6200" marR="76200" marT="50800" marB="50800" anchor="ctr">
                    <a:lnL w="6350" cap="flat" cmpd="sng" algn="ctr">
                      <a:solidFill>
                        <a:srgbClr val="C9D2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9D2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9D2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9D2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400" dirty="0">
                          <a:solidFill>
                            <a:srgbClr val="1E2433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Evet</a:t>
                      </a:r>
                      <a:endParaRPr lang="en-US" sz="14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6200" marR="76200" marT="50800" marB="50800" anchor="ctr">
                    <a:lnL w="6350" cap="flat" cmpd="sng" algn="ctr">
                      <a:solidFill>
                        <a:srgbClr val="C9D2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9D2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9D2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9D2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475488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400" b="1" dirty="0">
                          <a:solidFill>
                            <a:srgbClr val="1E2433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Sağ blok</a:t>
                      </a:r>
                      <a:endParaRPr lang="en-US" sz="14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6200" marR="76200" marT="50800" marB="50800" anchor="ctr">
                    <a:lnL w="6350" cap="flat" cmpd="sng" algn="ctr">
                      <a:solidFill>
                        <a:srgbClr val="C9D2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9D2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9D2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9D2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DF1F8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400" dirty="0">
                          <a:solidFill>
                            <a:srgbClr val="1E2433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EPP + ECR + PfE + ESN</a:t>
                      </a:r>
                      <a:endParaRPr lang="en-US" sz="14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6200" marR="76200" marT="50800" marB="50800" anchor="ctr">
                    <a:lnL w="6350" cap="flat" cmpd="sng" algn="ctr">
                      <a:solidFill>
                        <a:srgbClr val="C9D2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9D2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9D2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9D2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DF1F8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400" dirty="0">
                          <a:solidFill>
                            <a:srgbClr val="1E2433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375</a:t>
                      </a:r>
                      <a:endParaRPr lang="en-US" sz="14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6200" marR="76200" marT="50800" marB="50800" anchor="ctr">
                    <a:lnL w="6350" cap="flat" cmpd="sng" algn="ctr">
                      <a:solidFill>
                        <a:srgbClr val="C9D2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9D2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9D2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9D2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DF1F8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400" dirty="0">
                          <a:solidFill>
                            <a:srgbClr val="1E2433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Evet (aritmetik olarak)</a:t>
                      </a:r>
                      <a:endParaRPr lang="en-US" sz="14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6200" marR="76200" marT="50800" marB="50800" anchor="ctr">
                    <a:lnL w="6350" cap="flat" cmpd="sng" algn="ctr">
                      <a:solidFill>
                        <a:srgbClr val="C9D2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9D2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9D2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9D2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DF1F8"/>
                    </a:solidFill>
                  </a:tcPr>
                </a:tc>
              </a:tr>
              <a:tr h="475488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400" b="1" dirty="0">
                          <a:solidFill>
                            <a:srgbClr val="1E2433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Sağ, EPP'siz</a:t>
                      </a:r>
                      <a:endParaRPr lang="en-US" sz="14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6200" marR="76200" marT="50800" marB="50800" anchor="ctr">
                    <a:lnL w="6350" cap="flat" cmpd="sng" algn="ctr">
                      <a:solidFill>
                        <a:srgbClr val="C9D2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9D2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9D2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9D2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400" dirty="0">
                          <a:solidFill>
                            <a:srgbClr val="1E2433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ECR + PfE + ESN</a:t>
                      </a:r>
                      <a:endParaRPr lang="en-US" sz="14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6200" marR="76200" marT="50800" marB="50800" anchor="ctr">
                    <a:lnL w="6350" cap="flat" cmpd="sng" algn="ctr">
                      <a:solidFill>
                        <a:srgbClr val="C9D2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9D2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9D2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9D2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400" dirty="0">
                          <a:solidFill>
                            <a:srgbClr val="1E2433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187</a:t>
                      </a:r>
                      <a:endParaRPr lang="en-US" sz="14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6200" marR="76200" marT="50800" marB="50800" anchor="ctr">
                    <a:lnL w="6350" cap="flat" cmpd="sng" algn="ctr">
                      <a:solidFill>
                        <a:srgbClr val="C9D2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9D2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9D2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9D2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400" dirty="0">
                          <a:solidFill>
                            <a:srgbClr val="1E2433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Hayır</a:t>
                      </a:r>
                      <a:endParaRPr lang="en-US" sz="14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6200" marR="76200" marT="50800" marB="50800" anchor="ctr">
                    <a:lnL w="6350" cap="flat" cmpd="sng" algn="ctr">
                      <a:solidFill>
                        <a:srgbClr val="C9D2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9D2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9D2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9D2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475488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400" b="1" dirty="0">
                          <a:solidFill>
                            <a:srgbClr val="1E2433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Sol-merkez</a:t>
                      </a:r>
                      <a:endParaRPr lang="en-US" sz="14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6200" marR="76200" marT="50800" marB="50800" anchor="ctr">
                    <a:lnL w="6350" cap="flat" cmpd="sng" algn="ctr">
                      <a:solidFill>
                        <a:srgbClr val="C9D2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9D2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9D2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9D2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DF1F8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400" dirty="0">
                          <a:solidFill>
                            <a:srgbClr val="1E2433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S&amp;D + Renew + Yeşiller + Sol</a:t>
                      </a:r>
                      <a:endParaRPr lang="en-US" sz="14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6200" marR="76200" marT="50800" marB="50800" anchor="ctr">
                    <a:lnL w="6350" cap="flat" cmpd="sng" algn="ctr">
                      <a:solidFill>
                        <a:srgbClr val="C9D2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9D2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9D2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9D2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DF1F8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400" dirty="0">
                          <a:solidFill>
                            <a:srgbClr val="1E2433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312</a:t>
                      </a:r>
                      <a:endParaRPr lang="en-US" sz="14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6200" marR="76200" marT="50800" marB="50800" anchor="ctr">
                    <a:lnL w="6350" cap="flat" cmpd="sng" algn="ctr">
                      <a:solidFill>
                        <a:srgbClr val="C9D2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9D2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9D2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9D2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DF1F8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400" dirty="0">
                          <a:solidFill>
                            <a:srgbClr val="1E2433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Hayır</a:t>
                      </a:r>
                      <a:endParaRPr lang="en-US" sz="14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6200" marR="76200" marT="50800" marB="50800" anchor="ctr">
                    <a:lnL w="6350" cap="flat" cmpd="sng" algn="ctr">
                      <a:solidFill>
                        <a:srgbClr val="C9D2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9D2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9D2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9D2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DF1F8"/>
                    </a:solidFill>
                  </a:tcPr>
                </a:tc>
              </a:tr>
            </a:tbl>
          </a:graphicData>
        </a:graphic>
      </p:graphicFrame>
      <p:sp>
        <p:nvSpPr>
          <p:cNvPr id="4" name="Text 1"/>
          <p:cNvSpPr txBox="1"/>
          <p:nvPr/>
        </p:nvSpPr>
        <p:spPr>
          <a:xfrm>
            <a:off x="457200" y="4434840"/>
            <a:ext cx="8229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i="1" dirty="0">
                <a:solidFill>
                  <a:srgbClr val="5B647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EPP her iki yönde çoğunluk kurabilen tek grup olduğu için "kilit" konumdadır.</a:t>
            </a:r>
            <a:endParaRPr lang="en-US" sz="10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8229600" y="4773168"/>
            <a:ext cx="457200" cy="256032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000">
                <a:solidFill>
                  <a:srgbClr val="5B6475"/>
                </a:solidFill>
                <a:latin typeface="Calibri"/>
                <a:ea typeface="Calibri"/>
                <a:cs typeface="Calibri"/>
              </a:defRPr>
            </a:lvl1pPr>
          </a:lstStyle>
          <a:p>
            <a:pPr algn="r"/>
            <a:fld id="{F7021451-1387-4CA6-816F-3879F97B5CBC}" type="slidenum">
              <a:rPr b="0" lang="en-US"/>
              <a:t>6</a:t>
            </a:fld>
            <a:endParaRPr lang="en-US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457200" y="274320"/>
            <a:ext cx="822960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600" b="1" dirty="0">
                <a:solidFill>
                  <a:srgbClr val="14234B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"Kordon sanitaire" ve güç paylaşımı</a:t>
            </a:r>
            <a:endParaRPr lang="en-US" sz="2600" dirty="0"/>
          </a:p>
        </p:txBody>
      </p:sp>
      <p:sp>
        <p:nvSpPr>
          <p:cNvPr id="3" name="Text 1"/>
          <p:cNvSpPr txBox="1"/>
          <p:nvPr/>
        </p:nvSpPr>
        <p:spPr>
          <a:xfrm>
            <a:off x="457200" y="1143000"/>
            <a:ext cx="8229600" cy="34747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203200" indent="-203200">
              <a:spcAft>
                <a:spcPts val="700"/>
              </a:spcAft>
              <a:buSzPct val="100000"/>
              <a:buChar char="•"/>
            </a:pPr>
            <a:r>
              <a:rPr lang="en-US" sz="1800" dirty="0">
                <a:solidFill>
                  <a:srgbClr val="1E24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Komite başkanlıkları ve Parlamento başkan yardımcılıkları, gruplar arasında büyüklüğe göre (d'Hondt yöntemi) dağıtılır</a:t>
            </a:r>
            <a:endParaRPr lang="en-US" sz="1800" dirty="0"/>
          </a:p>
          <a:p>
            <a:pPr marL="203200" indent="-203200">
              <a:spcAft>
                <a:spcPts val="700"/>
              </a:spcAft>
              <a:buSzPct val="100000"/>
              <a:buChar char="•"/>
            </a:pPr>
            <a:r>
              <a:rPr lang="en-US" sz="1800" dirty="0">
                <a:solidFill>
                  <a:srgbClr val="1E24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2024'te merkez gruplar, PfE ve ESN'nin bu görevlere gelmesini engelledi ("kordon sanitaire")</a:t>
            </a:r>
            <a:endParaRPr lang="en-US" sz="1800" dirty="0"/>
          </a:p>
          <a:p>
            <a:pPr marL="203200" indent="-203200">
              <a:spcAft>
                <a:spcPts val="700"/>
              </a:spcAft>
              <a:buSzPct val="100000"/>
              <a:buChar char="•"/>
            </a:pPr>
            <a:r>
              <a:rPr lang="en-US" sz="1800" dirty="0">
                <a:solidFill>
                  <a:srgbClr val="1E24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Bu nedenle PfE ve ESN, büyüklüklerine rağmen komite başkanlığı alamadı</a:t>
            </a:r>
            <a:endParaRPr lang="en-US" sz="1800" dirty="0"/>
          </a:p>
          <a:p>
            <a:pPr marL="203200" indent="-203200">
              <a:spcAft>
                <a:spcPts val="700"/>
              </a:spcAft>
              <a:buSzPct val="100000"/>
              <a:buChar char="•"/>
            </a:pPr>
            <a:r>
              <a:rPr lang="en-US" sz="1800" dirty="0">
                <a:solidFill>
                  <a:srgbClr val="1E24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Tartışma: Bu uygulama demokratik bir koruma mı, yoksa seçmen iradesinin dışlanması mı?</a:t>
            </a:r>
            <a:endParaRPr lang="en-US" sz="18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8229600" y="4773168"/>
            <a:ext cx="457200" cy="256032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000">
                <a:solidFill>
                  <a:srgbClr val="5B6475"/>
                </a:solidFill>
                <a:latin typeface="Calibri"/>
                <a:ea typeface="Calibri"/>
                <a:cs typeface="Calibri"/>
              </a:defRPr>
            </a:lvl1pPr>
          </a:lstStyle>
          <a:p>
            <a:pPr algn="r"/>
            <a:fld id="{F7021451-1387-4CA6-816F-3879F97B5CBC}" type="slidenum">
              <a:rPr b="0" lang="en-US"/>
              <a:t>7</a:t>
            </a:fld>
            <a:endParaRPr lang="en-US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457200" y="274320"/>
            <a:ext cx="822960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600" b="1" dirty="0">
                <a:solidFill>
                  <a:srgbClr val="14234B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Türkiye ve Avrupa Parlamentosu</a:t>
            </a:r>
            <a:endParaRPr lang="en-US" sz="2600" dirty="0"/>
          </a:p>
        </p:txBody>
      </p:sp>
      <p:sp>
        <p:nvSpPr>
          <p:cNvPr id="3" name="Text 1"/>
          <p:cNvSpPr txBox="1"/>
          <p:nvPr/>
        </p:nvSpPr>
        <p:spPr>
          <a:xfrm>
            <a:off x="457200" y="1143000"/>
            <a:ext cx="5257800" cy="34747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203200" indent="-203200">
              <a:spcAft>
                <a:spcPts val="700"/>
              </a:spcAft>
              <a:buSzPct val="100000"/>
              <a:buChar char="•"/>
            </a:pPr>
            <a:r>
              <a:rPr lang="en-US" sz="1600" b="1" dirty="0">
                <a:solidFill>
                  <a:srgbClr val="14234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Temsil yok: </a:t>
            </a:r>
            <a:pPr indent="0" marL="0">
              <a:buNone/>
            </a:pPr>
            <a:r>
              <a:rPr lang="en-US" sz="1600" dirty="0">
                <a:solidFill>
                  <a:srgbClr val="1E24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Türkiye AB üyesi olmadığı için Avrupa Parlamentosu'nda Türkiye'den seçilmiş milletvekili bulunmaz.</a:t>
            </a:r>
            <a:endParaRPr lang="en-US" sz="1600" dirty="0"/>
          </a:p>
          <a:p>
            <a:pPr marL="203200" indent="-203200">
              <a:spcAft>
                <a:spcPts val="700"/>
              </a:spcAft>
              <a:buSzPct val="100000"/>
              <a:buChar char="•"/>
            </a:pPr>
            <a:r>
              <a:rPr lang="en-US" sz="1600" b="1" dirty="0">
                <a:solidFill>
                  <a:srgbClr val="14234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Karma Parlamento Komisyonu: </a:t>
            </a:r>
            <a:pPr indent="0" marL="0">
              <a:buNone/>
            </a:pPr>
            <a:r>
              <a:rPr lang="en-US" sz="1600" dirty="0">
                <a:solidFill>
                  <a:srgbClr val="1E24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TBMM ve AP üyeleri arasında kurumsal diyalog kanalı.</a:t>
            </a:r>
            <a:endParaRPr lang="en-US" sz="1600" dirty="0"/>
          </a:p>
          <a:p>
            <a:pPr marL="203200" indent="-203200">
              <a:spcAft>
                <a:spcPts val="700"/>
              </a:spcAft>
              <a:buSzPct val="100000"/>
              <a:buChar char="•"/>
            </a:pPr>
            <a:r>
              <a:rPr lang="en-US" sz="1600" b="1" dirty="0">
                <a:solidFill>
                  <a:srgbClr val="14234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Yıllık Türkiye raporu: </a:t>
            </a:r>
            <a:pPr indent="0" marL="0">
              <a:buNone/>
            </a:pPr>
            <a:r>
              <a:rPr lang="en-US" sz="1600" dirty="0">
                <a:solidFill>
                  <a:srgbClr val="1E24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AP, Komisyon'un ülke raporuna kendi kararıyla yanıt verir.</a:t>
            </a:r>
            <a:endParaRPr lang="en-US" sz="1600" dirty="0"/>
          </a:p>
          <a:p>
            <a:pPr marL="203200" indent="-203200">
              <a:spcAft>
                <a:spcPts val="700"/>
              </a:spcAft>
              <a:buSzPct val="100000"/>
              <a:buChar char="•"/>
            </a:pPr>
            <a:r>
              <a:rPr lang="en-US" sz="1600" b="1" dirty="0">
                <a:solidFill>
                  <a:srgbClr val="14234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17 Haziran 2026 kararı: </a:t>
            </a:r>
            <a:pPr indent="0" marL="0">
              <a:buNone/>
            </a:pPr>
            <a:r>
              <a:rPr lang="en-US" sz="1600" dirty="0">
                <a:solidFill>
                  <a:srgbClr val="1E24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381 kabul, 107 ret, 171 çekimser oyla kabul edildi; katılım sürecinin "mevcut koşullarda yeniden başlayamayacağını" belirtti.</a:t>
            </a:r>
            <a:endParaRPr lang="en-US" sz="1600" dirty="0"/>
          </a:p>
          <a:p>
            <a:pPr marL="203200" indent="-203200">
              <a:spcAft>
                <a:spcPts val="700"/>
              </a:spcAft>
              <a:buSzPct val="100000"/>
              <a:buChar char="•"/>
            </a:pPr>
            <a:r>
              <a:rPr lang="en-US" sz="1600" b="1" dirty="0">
                <a:solidFill>
                  <a:srgbClr val="14234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Önerilen yol: </a:t>
            </a:r>
            <a:pPr indent="0" marL="0">
              <a:buNone/>
            </a:pPr>
            <a:r>
              <a:rPr lang="en-US" sz="1600" dirty="0">
                <a:solidFill>
                  <a:srgbClr val="1E24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Ortaklık Anlaşması'nın güncellenmesi ve daha stratejik bir ortaklık.</a:t>
            </a:r>
            <a:endParaRPr lang="en-US" sz="1600" dirty="0"/>
          </a:p>
        </p:txBody>
      </p:sp>
      <p:sp>
        <p:nvSpPr>
          <p:cNvPr id="4" name="Shape 2"/>
          <p:cNvSpPr/>
          <p:nvPr/>
        </p:nvSpPr>
        <p:spPr>
          <a:xfrm>
            <a:off x="5989320" y="1143000"/>
            <a:ext cx="2697480" cy="3383280"/>
          </a:xfrm>
          <a:prstGeom prst="roundRect">
            <a:avLst>
              <a:gd name="adj" fmla="val 4068"/>
            </a:avLst>
          </a:prstGeom>
          <a:solidFill>
            <a:srgbClr val="EDF1F8"/>
          </a:solidFill>
          <a:ln/>
        </p:spPr>
      </p:sp>
      <p:sp>
        <p:nvSpPr>
          <p:cNvPr id="5" name="Text 3"/>
          <p:cNvSpPr txBox="1"/>
          <p:nvPr/>
        </p:nvSpPr>
        <p:spPr>
          <a:xfrm>
            <a:off x="6217920" y="1325880"/>
            <a:ext cx="224028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D9A52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Dikkat</a:t>
            </a:r>
            <a:endParaRPr lang="en-US" sz="1400" dirty="0"/>
          </a:p>
        </p:txBody>
      </p:sp>
      <p:sp>
        <p:nvSpPr>
          <p:cNvPr id="6" name="Text 4"/>
          <p:cNvSpPr txBox="1"/>
          <p:nvPr/>
        </p:nvSpPr>
        <p:spPr>
          <a:xfrm>
            <a:off x="6217920" y="1783080"/>
            <a:ext cx="2240280" cy="26060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400" dirty="0">
                <a:solidFill>
                  <a:srgbClr val="1E24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Bazı üye devletlerden Türk kökenli milletvekilleri seçilebilir; ancak bu kişiler o üye devleti temsil eder, Türkiye'yi değil.</a:t>
            </a:r>
            <a:endParaRPr lang="en-US" sz="14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8229600" y="4773168"/>
            <a:ext cx="457200" cy="256032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000">
                <a:solidFill>
                  <a:srgbClr val="5B6475"/>
                </a:solidFill>
                <a:latin typeface="Calibri"/>
                <a:ea typeface="Calibri"/>
                <a:cs typeface="Calibri"/>
              </a:defRPr>
            </a:lvl1pPr>
          </a:lstStyle>
          <a:p>
            <a:pPr algn="r"/>
            <a:fld id="{F7021451-1387-4CA6-816F-3879F97B5CBC}" type="slidenum">
              <a:rPr b="0" lang="en-US"/>
              <a:t>8</a:t>
            </a:fld>
            <a:endParaRPr lang="en-US"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548640" y="411480"/>
            <a:ext cx="804672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600" b="1" dirty="0">
                <a:solidFill>
                  <a:srgbClr val="D9A521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Tartışma soruları</a:t>
            </a:r>
            <a:endParaRPr lang="en-US" sz="2600" dirty="0"/>
          </a:p>
        </p:txBody>
      </p:sp>
      <p:sp>
        <p:nvSpPr>
          <p:cNvPr id="3" name="Text 1"/>
          <p:cNvSpPr txBox="1"/>
          <p:nvPr/>
        </p:nvSpPr>
        <p:spPr>
          <a:xfrm>
            <a:off x="548640" y="1188720"/>
            <a:ext cx="8046720" cy="32918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342900" indent="-342900">
              <a:spcAft>
                <a:spcPts val="1200"/>
              </a:spcAft>
              <a:buSzPct val="100000"/>
              <a:buFont typeface="+mj-lt"/>
              <a:buAutoNum type="arabicPeriod" startAt="1"/>
            </a:pPr>
            <a:r>
              <a:rPr lang="en-US" sz="18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Ulusal partilerin Avrupa düzeyinde ideolojik gruplara katılması, AB'de bir "Avrupa kamusal alanı" yaratıyor mu?</a:t>
            </a:r>
            <a:endParaRPr lang="en-US" sz="1800" dirty="0"/>
          </a:p>
          <a:p>
            <a:pPr marL="342900" indent="-342900">
              <a:spcAft>
                <a:spcPts val="1200"/>
              </a:spcAft>
              <a:buSzPct val="100000"/>
              <a:buFont typeface="+mj-lt"/>
              <a:buAutoNum type="arabicPeriod" startAt="1"/>
            </a:pPr>
            <a:r>
              <a:rPr lang="en-US" sz="18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EPP'nin her iki yönde çoğunluk kurabilmesi, AB politikalarının yönü için ne anlama geliyor?</a:t>
            </a:r>
            <a:endParaRPr lang="en-US" sz="1800" dirty="0"/>
          </a:p>
          <a:p>
            <a:pPr marL="342900" indent="-342900">
              <a:spcAft>
                <a:spcPts val="1200"/>
              </a:spcAft>
              <a:buSzPct val="100000"/>
              <a:buFont typeface="+mj-lt"/>
              <a:buAutoNum type="arabicPeriod" startAt="1"/>
            </a:pPr>
            <a:r>
              <a:rPr lang="en-US" sz="18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AP'nin Türkiye kararları bağlayıcı değil; o halde neden önemlidir?</a:t>
            </a:r>
            <a:endParaRPr lang="en-US" sz="1800" dirty="0"/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457200" y="274320"/>
            <a:ext cx="822960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600" b="1" dirty="0">
                <a:solidFill>
                  <a:srgbClr val="14234B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Kaynaklar</a:t>
            </a:r>
            <a:endParaRPr lang="en-US" sz="2600" dirty="0"/>
          </a:p>
        </p:txBody>
      </p:sp>
      <p:sp>
        <p:nvSpPr>
          <p:cNvPr id="3" name="Text 1"/>
          <p:cNvSpPr txBox="1"/>
          <p:nvPr/>
        </p:nvSpPr>
        <p:spPr>
          <a:xfrm>
            <a:off x="457200" y="1051560"/>
            <a:ext cx="8229600" cy="32461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177800" indent="-177800">
              <a:spcAft>
                <a:spcPts val="400"/>
              </a:spcAft>
              <a:buSzPct val="100000"/>
              <a:buChar char="•"/>
            </a:pPr>
            <a:r>
              <a:rPr lang="en-US" sz="1200" dirty="0">
                <a:solidFill>
                  <a:srgbClr val="1E24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Avrupa Parlamentosu, 2024–2029 seçim sonuçları ve kurucu oturum dağılımı — results.elections.europa.eu</a:t>
            </a:r>
            <a:endParaRPr lang="en-US" sz="1200" dirty="0"/>
          </a:p>
          <a:p>
            <a:pPr marL="177800" indent="-177800">
              <a:spcAft>
                <a:spcPts val="400"/>
              </a:spcAft>
              <a:buSzPct val="100000"/>
              <a:buChar char="•"/>
            </a:pPr>
            <a:r>
              <a:rPr lang="en-US" sz="1200" dirty="0">
                <a:solidFill>
                  <a:srgbClr val="1E24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Avrupa Parlamentosu İçtüzüğü (siyasi grupların kurulması) — europarl.europa.eu</a:t>
            </a:r>
            <a:endParaRPr lang="en-US" sz="1200" dirty="0"/>
          </a:p>
          <a:p>
            <a:pPr marL="177800" indent="-177800">
              <a:spcAft>
                <a:spcPts val="400"/>
              </a:spcAft>
              <a:buSzPct val="100000"/>
              <a:buChar char="•"/>
            </a:pPr>
            <a:r>
              <a:rPr lang="en-US" sz="1200" dirty="0">
                <a:solidFill>
                  <a:srgbClr val="1E24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Tenth European Parliament (komite başkanlıkları ve kordon sanitaire) — en.wikipedia.org</a:t>
            </a:r>
            <a:endParaRPr lang="en-US" sz="1200" dirty="0"/>
          </a:p>
          <a:p>
            <a:pPr marL="177800" indent="-177800">
              <a:spcAft>
                <a:spcPts val="400"/>
              </a:spcAft>
              <a:buSzPct val="100000"/>
              <a:buChar char="•"/>
            </a:pPr>
            <a:r>
              <a:rPr lang="en-US" sz="1200" dirty="0">
                <a:solidFill>
                  <a:srgbClr val="1E24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SIEPS (2026), "The Centre Is Holding: Coalitions and Majorities in a Fragmented European Parliament" — sieps.se</a:t>
            </a:r>
            <a:endParaRPr lang="en-US" sz="1200" dirty="0"/>
          </a:p>
          <a:p>
            <a:pPr marL="177800" indent="-177800">
              <a:spcAft>
                <a:spcPts val="400"/>
              </a:spcAft>
              <a:buSzPct val="100000"/>
              <a:buChar char="•"/>
            </a:pPr>
            <a:r>
              <a:rPr lang="en-US" sz="1200" dirty="0">
                <a:solidFill>
                  <a:srgbClr val="1E24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AP'nin 2025 Türkiye Raporu kararı, 2025/2256(INI), 17 Haziran 2026 — oeil.europarl.europa.eu</a:t>
            </a:r>
            <a:endParaRPr lang="en-US" sz="1200" dirty="0"/>
          </a:p>
        </p:txBody>
      </p:sp>
      <p:sp>
        <p:nvSpPr>
          <p:cNvPr id="4" name="Text 2"/>
          <p:cNvSpPr txBox="1"/>
          <p:nvPr/>
        </p:nvSpPr>
        <p:spPr>
          <a:xfrm>
            <a:off x="457200" y="4315968"/>
            <a:ext cx="822960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i="1" dirty="0">
                <a:solidFill>
                  <a:srgbClr val="5B647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Güncel sayılar (sandalye dağılımı, aday ülke durumu vb.) zamanla değişir; derste kullanmadan önce resmi kaynaktan teyit edilmesi önerilir. Bilgiler Ekim 2026 itibarıyla kontrol edilmiştir.</a:t>
            </a:r>
            <a:endParaRPr lang="en-US" sz="10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8229600" y="4773168"/>
            <a:ext cx="457200" cy="256032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000">
                <a:solidFill>
                  <a:srgbClr val="5B6475"/>
                </a:solidFill>
                <a:latin typeface="Calibri"/>
                <a:ea typeface="Calibri"/>
                <a:cs typeface="Calibri"/>
              </a:defRPr>
            </a:lvl1pPr>
          </a:lstStyle>
          <a:p>
            <a:pPr algn="r"/>
            <a:fld id="{F7021451-1387-4CA6-816F-3879F97B5CBC}" type="slidenum">
              <a:rPr b="0" lang="en-US"/>
              <a:t>10</a:t>
            </a:fld>
            <a:endParaRPr lang="en-US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mbria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10</Slides>
  <Notes>10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10</vt:i4>
      </vt:variant>
    </vt:vector>
  </HeadingPairs>
  <TitlesOfParts>
    <vt:vector size="13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  <vt:lpstr>Slide 6</vt:lpstr>
      <vt:lpstr>Slide 7</vt:lpstr>
      <vt:lpstr>Slide 8</vt:lpstr>
      <vt:lpstr>Slide 9</vt:lpstr>
      <vt:lpstr>Slide 10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Avrupa Parlamentosu'nda Siyasi Gruplar</dc:title>
  <dc:subject>PptxGenJS Presentation</dc:subject>
  <dc:creator>SBK 3035 – ÇÖMÜ SBF</dc:creator>
  <cp:lastModifiedBy>SBK 3035 – ÇÖMÜ SBF</cp:lastModifiedBy>
  <cp:revision>1</cp:revision>
  <dcterms:created xsi:type="dcterms:W3CDTF">2026-10-10T10:01:00Z</dcterms:created>
  <dcterms:modified xsi:type="dcterms:W3CDTF">2026-10-10T10:01:00Z</dcterms:modified>
</cp:coreProperties>
</file>